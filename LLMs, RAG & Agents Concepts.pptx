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7" d="100"/>
          <a:sy n="87" d="100"/>
        </p:scale>
        <p:origin x="499"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C241B"/>
        </a:solidFill>
        <a:effectLst/>
      </p:bgPr>
    </p:bg>
    <p:spTree>
      <p:nvGrpSpPr>
        <p:cNvPr id="1" name=""/>
        <p:cNvGrpSpPr/>
        <p:nvPr/>
      </p:nvGrpSpPr>
      <p:grpSpPr>
        <a:xfrm>
          <a:off x="0" y="0"/>
          <a:ext cx="0" cy="0"/>
          <a:chOff x="0" y="0"/>
          <a:chExt cx="0" cy="0"/>
        </a:xfrm>
      </p:grpSpPr>
      <p:sp>
        <p:nvSpPr>
          <p:cNvPr id="2" name="TextBox 1"/>
          <p:cNvSpPr txBox="1"/>
          <p:nvPr/>
        </p:nvSpPr>
        <p:spPr>
          <a:xfrm>
            <a:off x="285273" y="2362200"/>
            <a:ext cx="11621452" cy="738664"/>
          </a:xfrm>
          <a:prstGeom prst="rect">
            <a:avLst/>
          </a:prstGeom>
          <a:noFill/>
        </p:spPr>
        <p:txBody>
          <a:bodyPr wrap="square" lIns="0" tIns="0" rIns="0" bIns="0" anchor="t">
            <a:spAutoFit/>
          </a:bodyPr>
          <a:lstStyle/>
          <a:p>
            <a:pPr algn="ctr"/>
            <a:r>
              <a:rPr lang="en-IN" sz="4800" b="1" i="0" u="none" dirty="0">
                <a:solidFill>
                  <a:srgbClr val="F5EFEB"/>
                </a:solidFill>
                <a:latin typeface="Inter"/>
              </a:rPr>
              <a:t>LLMs, RAG &amp; Agents Concepts</a:t>
            </a:r>
            <a:endParaRPr sz="4800" b="1" i="0" u="none" dirty="0">
              <a:solidFill>
                <a:srgbClr val="F5EFEB"/>
              </a:solidFill>
              <a:latin typeface="Inter"/>
            </a:endParaRPr>
          </a:p>
        </p:txBody>
      </p:sp>
      <p:sp>
        <p:nvSpPr>
          <p:cNvPr id="4" name="TextBox 3">
            <a:extLst>
              <a:ext uri="{FF2B5EF4-FFF2-40B4-BE49-F238E27FC236}">
                <a16:creationId xmlns:a16="http://schemas.microsoft.com/office/drawing/2014/main" id="{A8ED3C63-6EAF-40DF-98E1-79C2D364C330}"/>
              </a:ext>
            </a:extLst>
          </p:cNvPr>
          <p:cNvSpPr txBox="1"/>
          <p:nvPr/>
        </p:nvSpPr>
        <p:spPr>
          <a:xfrm>
            <a:off x="6532682" y="3499338"/>
            <a:ext cx="4406889" cy="369332"/>
          </a:xfrm>
          <a:prstGeom prst="rect">
            <a:avLst/>
          </a:prstGeom>
          <a:noFill/>
        </p:spPr>
        <p:txBody>
          <a:bodyPr wrap="square" lIns="0" tIns="0" rIns="0" bIns="0" anchor="t">
            <a:spAutoFit/>
          </a:bodyPr>
          <a:lstStyle/>
          <a:p>
            <a:pPr algn="ctr"/>
            <a:r>
              <a:rPr lang="en-IN" sz="2400" b="1" i="0" u="none" dirty="0" err="1">
                <a:solidFill>
                  <a:schemeClr val="accent6">
                    <a:lumMod val="60000"/>
                    <a:lumOff val="40000"/>
                  </a:schemeClr>
                </a:solidFill>
                <a:latin typeface="Inter"/>
              </a:rPr>
              <a:t>Eniyavasanthan</a:t>
            </a:r>
            <a:r>
              <a:rPr lang="en-IN" sz="2400" b="1" i="0" u="none" dirty="0">
                <a:solidFill>
                  <a:schemeClr val="accent6">
                    <a:lumMod val="60000"/>
                    <a:lumOff val="40000"/>
                  </a:schemeClr>
                </a:solidFill>
                <a:latin typeface="Inter"/>
              </a:rPr>
              <a:t> R</a:t>
            </a:r>
            <a:endParaRPr sz="2400" b="1" i="0" u="none" dirty="0">
              <a:solidFill>
                <a:schemeClr val="accent6">
                  <a:lumMod val="60000"/>
                  <a:lumOff val="40000"/>
                </a:schemeClr>
              </a:solidFill>
              <a:latin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486525" y="1268289"/>
            <a:ext cx="5238750" cy="5400675"/>
          </a:xfrm>
          <a:prstGeom prst="rect">
            <a:avLst/>
          </a:prstGeom>
        </p:spPr>
      </p:pic>
      <p:pic>
        <p:nvPicPr>
          <p:cNvPr id="3" name="Picture 2" descr="image.png"/>
          <p:cNvPicPr>
            <a:picLocks noChangeAspect="1"/>
          </p:cNvPicPr>
          <p:nvPr/>
        </p:nvPicPr>
        <p:blipFill>
          <a:blip r:embed="rId3"/>
          <a:stretch>
            <a:fillRect/>
          </a:stretch>
        </p:blipFill>
        <p:spPr>
          <a:xfrm>
            <a:off x="7762875" y="3195637"/>
            <a:ext cx="2476500" cy="1219200"/>
          </a:xfrm>
          <a:prstGeom prst="rect">
            <a:avLst/>
          </a:prstGeom>
        </p:spPr>
      </p:pic>
      <p:pic>
        <p:nvPicPr>
          <p:cNvPr id="4" name="Picture 3" descr="image.png"/>
          <p:cNvPicPr>
            <a:picLocks noChangeAspect="1"/>
          </p:cNvPicPr>
          <p:nvPr/>
        </p:nvPicPr>
        <p:blipFill>
          <a:blip r:embed="rId4"/>
          <a:stretch>
            <a:fillRect/>
          </a:stretch>
        </p:blipFill>
        <p:spPr>
          <a:xfrm>
            <a:off x="8139112" y="2090737"/>
            <a:ext cx="1724025" cy="542925"/>
          </a:xfrm>
          <a:prstGeom prst="rect">
            <a:avLst/>
          </a:prstGeom>
        </p:spPr>
      </p:pic>
      <p:pic>
        <p:nvPicPr>
          <p:cNvPr id="5" name="Picture 4" descr="image.png"/>
          <p:cNvPicPr>
            <a:picLocks noChangeAspect="1"/>
          </p:cNvPicPr>
          <p:nvPr/>
        </p:nvPicPr>
        <p:blipFill>
          <a:blip r:embed="rId5"/>
          <a:stretch>
            <a:fillRect/>
          </a:stretch>
        </p:blipFill>
        <p:spPr>
          <a:xfrm>
            <a:off x="7800975" y="4976812"/>
            <a:ext cx="2400300" cy="542925"/>
          </a:xfrm>
          <a:prstGeom prst="rect">
            <a:avLst/>
          </a:prstGeom>
        </p:spPr>
      </p:pic>
      <p:pic>
        <p:nvPicPr>
          <p:cNvPr id="6" name="Picture 5" descr="image.png"/>
          <p:cNvPicPr>
            <a:picLocks noChangeAspect="1"/>
          </p:cNvPicPr>
          <p:nvPr/>
        </p:nvPicPr>
        <p:blipFill>
          <a:blip r:embed="rId6"/>
          <a:stretch>
            <a:fillRect/>
          </a:stretch>
        </p:blipFill>
        <p:spPr>
          <a:xfrm>
            <a:off x="8191500" y="5986462"/>
            <a:ext cx="1619250" cy="542925"/>
          </a:xfrm>
          <a:prstGeom prst="rect">
            <a:avLst/>
          </a:prstGeom>
        </p:spPr>
      </p:pic>
      <p:pic>
        <p:nvPicPr>
          <p:cNvPr id="7" name="Picture 6" descr="image.png"/>
          <p:cNvPicPr>
            <a:picLocks noChangeAspect="1"/>
          </p:cNvPicPr>
          <p:nvPr/>
        </p:nvPicPr>
        <p:blipFill>
          <a:blip r:embed="rId7"/>
          <a:stretch>
            <a:fillRect/>
          </a:stretch>
        </p:blipFill>
        <p:spPr>
          <a:xfrm>
            <a:off x="7972425" y="3662362"/>
            <a:ext cx="2057400" cy="542925"/>
          </a:xfrm>
          <a:prstGeom prst="rect">
            <a:avLst/>
          </a:prstGeom>
        </p:spPr>
      </p:pic>
      <p:sp>
        <p:nvSpPr>
          <p:cNvPr id="8" name="Rectangle 7"/>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01</a:t>
            </a:r>
          </a:p>
        </p:txBody>
      </p:sp>
      <p:sp>
        <p:nvSpPr>
          <p:cNvPr id="10" name="Rectangle 9"/>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1500" y="533400"/>
            <a:ext cx="5800725" cy="485775"/>
          </a:xfrm>
          <a:prstGeom prst="rect">
            <a:avLst/>
          </a:prstGeom>
          <a:noFill/>
        </p:spPr>
        <p:txBody>
          <a:bodyPr wrap="square" lIns="0" tIns="0" rIns="0" bIns="0" anchor="t">
            <a:spAutoFit/>
          </a:bodyPr>
          <a:lstStyle/>
          <a:p>
            <a:pPr algn="l"/>
            <a:r>
              <a:rPr sz="3150" b="1" i="0" u="none">
                <a:solidFill>
                  <a:srgbClr val="2C241B"/>
                </a:solidFill>
                <a:latin typeface="Inter"/>
              </a:rPr>
              <a:t>1. LLM Fundamentals (Part 1)</a:t>
            </a:r>
          </a:p>
        </p:txBody>
      </p:sp>
      <p:sp>
        <p:nvSpPr>
          <p:cNvPr id="12" name="TextBox 11"/>
          <p:cNvSpPr txBox="1"/>
          <p:nvPr/>
        </p:nvSpPr>
        <p:spPr>
          <a:xfrm>
            <a:off x="571500" y="16097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Tokens</a:t>
            </a:r>
          </a:p>
        </p:txBody>
      </p:sp>
      <p:sp>
        <p:nvSpPr>
          <p:cNvPr id="13" name="TextBox 12"/>
          <p:cNvSpPr txBox="1"/>
          <p:nvPr/>
        </p:nvSpPr>
        <p:spPr>
          <a:xfrm>
            <a:off x="571500" y="1981200"/>
            <a:ext cx="523875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fundamental units of text (words, subwords, or characters) processed by an LLM. Understanding tokens is critical because they directly dictate model pricing, processing speed, and context limits.</a:t>
            </a:r>
          </a:p>
        </p:txBody>
      </p:sp>
      <p:sp>
        <p:nvSpPr>
          <p:cNvPr id="14" name="TextBox 13"/>
          <p:cNvSpPr txBox="1"/>
          <p:nvPr/>
        </p:nvSpPr>
        <p:spPr>
          <a:xfrm>
            <a:off x="571499" y="3257549"/>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Context Window</a:t>
            </a:r>
          </a:p>
        </p:txBody>
      </p:sp>
      <p:sp>
        <p:nvSpPr>
          <p:cNvPr id="15" name="TextBox 14"/>
          <p:cNvSpPr txBox="1"/>
          <p:nvPr/>
        </p:nvSpPr>
        <p:spPr>
          <a:xfrm>
            <a:off x="571500" y="3686173"/>
            <a:ext cx="5238750" cy="11430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The maximum number of tokens a model can process in a single inference request. It acts as the model's short-term memory, restricting how much document text or conversation history can be analyzed at once.</a:t>
            </a:r>
          </a:p>
        </p:txBody>
      </p:sp>
      <p:sp>
        <p:nvSpPr>
          <p:cNvPr id="16" name="TextBox 15"/>
          <p:cNvSpPr txBox="1"/>
          <p:nvPr/>
        </p:nvSpPr>
        <p:spPr>
          <a:xfrm>
            <a:off x="571500" y="5100636"/>
            <a:ext cx="5500687" cy="295275"/>
          </a:xfrm>
          <a:prstGeom prst="rect">
            <a:avLst/>
          </a:prstGeom>
          <a:noFill/>
        </p:spPr>
        <p:txBody>
          <a:bodyPr wrap="square" lIns="0" tIns="0" rIns="0" bIns="0" anchor="t">
            <a:spAutoFit/>
          </a:bodyPr>
          <a:lstStyle/>
          <a:p>
            <a:pPr algn="l"/>
            <a:r>
              <a:rPr sz="1950" b="0" i="0" u="none" dirty="0">
                <a:solidFill>
                  <a:srgbClr val="8B5A2B"/>
                </a:solidFill>
                <a:latin typeface="Inter SemiBold"/>
              </a:rPr>
              <a:t>Temperature</a:t>
            </a:r>
          </a:p>
        </p:txBody>
      </p:sp>
      <p:sp>
        <p:nvSpPr>
          <p:cNvPr id="17" name="TextBox 16"/>
          <p:cNvSpPr txBox="1"/>
          <p:nvPr/>
        </p:nvSpPr>
        <p:spPr>
          <a:xfrm>
            <a:off x="571499" y="5514608"/>
            <a:ext cx="5238750" cy="11430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A parameter controlling the randomness of the model's output generation. A lower temperature (e.g., 0.1) ensures deterministic, factual responses, while a higher temperature encourages creative variation.</a:t>
            </a:r>
          </a:p>
        </p:txBody>
      </p:sp>
      <p:sp>
        <p:nvSpPr>
          <p:cNvPr id="18" name="TextBox 17"/>
          <p:cNvSpPr txBox="1"/>
          <p:nvPr/>
        </p:nvSpPr>
        <p:spPr>
          <a:xfrm>
            <a:off x="7972425" y="3405187"/>
            <a:ext cx="2057400" cy="161925"/>
          </a:xfrm>
          <a:prstGeom prst="rect">
            <a:avLst/>
          </a:prstGeom>
          <a:noFill/>
        </p:spPr>
        <p:txBody>
          <a:bodyPr wrap="square" lIns="0" tIns="0" rIns="0" bIns="0" anchor="t">
            <a:spAutoFit/>
          </a:bodyPr>
          <a:lstStyle/>
          <a:p>
            <a:pPr algn="ctr"/>
            <a:r>
              <a:rPr sz="1050" b="0" i="0" u="none">
                <a:solidFill>
                  <a:srgbClr val="8B5A2B"/>
                </a:solidFill>
                <a:latin typeface="Inter SemiBold"/>
              </a:rPr>
              <a:t>TOKENIZER</a:t>
            </a:r>
          </a:p>
        </p:txBody>
      </p:sp>
      <p:sp>
        <p:nvSpPr>
          <p:cNvPr id="19" name="TextBox 18"/>
          <p:cNvSpPr txBox="1"/>
          <p:nvPr/>
        </p:nvSpPr>
        <p:spPr>
          <a:xfrm>
            <a:off x="8896350" y="2728912"/>
            <a:ext cx="20955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
        <p:nvSpPr>
          <p:cNvPr id="20" name="TextBox 19"/>
          <p:cNvSpPr txBox="1"/>
          <p:nvPr/>
        </p:nvSpPr>
        <p:spPr>
          <a:xfrm>
            <a:off x="8896350" y="4605337"/>
            <a:ext cx="20955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
        <p:nvSpPr>
          <p:cNvPr id="21" name="TextBox 20"/>
          <p:cNvSpPr txBox="1"/>
          <p:nvPr/>
        </p:nvSpPr>
        <p:spPr>
          <a:xfrm>
            <a:off x="8896350" y="5614987"/>
            <a:ext cx="20955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02</a:t>
            </a:r>
          </a:p>
        </p:txBody>
      </p:sp>
      <p:sp>
        <p:nvSpPr>
          <p:cNvPr id="4" name="Rectangle 3"/>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1500" y="533400"/>
            <a:ext cx="5880735" cy="485775"/>
          </a:xfrm>
          <a:prstGeom prst="rect">
            <a:avLst/>
          </a:prstGeom>
          <a:noFill/>
        </p:spPr>
        <p:txBody>
          <a:bodyPr wrap="square" lIns="0" tIns="0" rIns="0" bIns="0" anchor="t">
            <a:spAutoFit/>
          </a:bodyPr>
          <a:lstStyle/>
          <a:p>
            <a:pPr algn="l"/>
            <a:r>
              <a:rPr sz="3150" b="1" i="0" u="none">
                <a:solidFill>
                  <a:srgbClr val="2C241B"/>
                </a:solidFill>
                <a:latin typeface="Inter"/>
              </a:rPr>
              <a:t>1. LLM Fundamentals (Part 2)</a:t>
            </a:r>
          </a:p>
        </p:txBody>
      </p:sp>
      <p:sp>
        <p:nvSpPr>
          <p:cNvPr id="6" name="TextBox 5"/>
          <p:cNvSpPr txBox="1"/>
          <p:nvPr/>
        </p:nvSpPr>
        <p:spPr>
          <a:xfrm>
            <a:off x="571500" y="16097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Model Capabilities</a:t>
            </a:r>
          </a:p>
        </p:txBody>
      </p:sp>
      <p:sp>
        <p:nvSpPr>
          <p:cNvPr id="7" name="TextBox 6"/>
          <p:cNvSpPr txBox="1"/>
          <p:nvPr/>
        </p:nvSpPr>
        <p:spPr>
          <a:xfrm>
            <a:off x="571500" y="198120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specific task classes a model is trained to handle optimally, such as reasoning, coding, summarization, or translation. As a trainee, it is vital to understand that smaller, faster models should be used for simple parsing, while frontier models are required for complex reasoning tasks.</a:t>
            </a:r>
          </a:p>
        </p:txBody>
      </p:sp>
      <p:sp>
        <p:nvSpPr>
          <p:cNvPr id="8" name="TextBox 7"/>
          <p:cNvSpPr txBox="1"/>
          <p:nvPr/>
        </p:nvSpPr>
        <p:spPr>
          <a:xfrm>
            <a:off x="571500" y="2981325"/>
            <a:ext cx="11601450" cy="295275"/>
          </a:xfrm>
          <a:prstGeom prst="rect">
            <a:avLst/>
          </a:prstGeom>
          <a:noFill/>
        </p:spPr>
        <p:txBody>
          <a:bodyPr wrap="square" lIns="0" tIns="0" rIns="0" bIns="0" anchor="t">
            <a:spAutoFit/>
          </a:bodyPr>
          <a:lstStyle/>
          <a:p>
            <a:pPr algn="l"/>
            <a:r>
              <a:rPr sz="1950" b="0" i="0" u="none" dirty="0">
                <a:solidFill>
                  <a:srgbClr val="8B5A2B"/>
                </a:solidFill>
                <a:latin typeface="Inter SemiBold"/>
              </a:rPr>
              <a:t>Inference</a:t>
            </a:r>
          </a:p>
        </p:txBody>
      </p:sp>
      <p:sp>
        <p:nvSpPr>
          <p:cNvPr id="9" name="TextBox 8"/>
          <p:cNvSpPr txBox="1"/>
          <p:nvPr/>
        </p:nvSpPr>
        <p:spPr>
          <a:xfrm>
            <a:off x="571500" y="3386137"/>
            <a:ext cx="11049000" cy="271998"/>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The operational phase where a trained model generates text based on a provided prompt, without altering its underlying weights.</a:t>
            </a:r>
          </a:p>
        </p:txBody>
      </p:sp>
      <p:sp>
        <p:nvSpPr>
          <p:cNvPr id="10" name="TextBox 9"/>
          <p:cNvSpPr txBox="1"/>
          <p:nvPr/>
        </p:nvSpPr>
        <p:spPr>
          <a:xfrm>
            <a:off x="571500" y="4186505"/>
            <a:ext cx="11601450" cy="295275"/>
          </a:xfrm>
          <a:prstGeom prst="rect">
            <a:avLst/>
          </a:prstGeom>
          <a:noFill/>
        </p:spPr>
        <p:txBody>
          <a:bodyPr wrap="square" lIns="0" tIns="0" rIns="0" bIns="0" anchor="t">
            <a:spAutoFit/>
          </a:bodyPr>
          <a:lstStyle/>
          <a:p>
            <a:pPr algn="l"/>
            <a:r>
              <a:rPr sz="1950" b="0" i="0" u="none" dirty="0">
                <a:solidFill>
                  <a:srgbClr val="8B5A2B"/>
                </a:solidFill>
                <a:latin typeface="Inter SemiBold"/>
              </a:rPr>
              <a:t>Hallucination</a:t>
            </a:r>
          </a:p>
        </p:txBody>
      </p:sp>
      <p:sp>
        <p:nvSpPr>
          <p:cNvPr id="11" name="TextBox 10"/>
          <p:cNvSpPr txBox="1"/>
          <p:nvPr/>
        </p:nvSpPr>
        <p:spPr>
          <a:xfrm>
            <a:off x="571500" y="4601744"/>
            <a:ext cx="11049000" cy="85725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Instances where the model generates factually incorrect, completely fabricated, or logically inconsistent information while maintaining a highly confident tone. This is a primary risk in enterprise deployments, necessitating strict grounding techniques and retrieval augmentation.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1500" y="914400"/>
            <a:ext cx="11049000" cy="123825"/>
          </a:xfrm>
          <a:prstGeom prst="rect">
            <a:avLst/>
          </a:prstGeom>
          <a:noFill/>
        </p:spPr>
        <p:txBody>
          <a:bodyPr wrap="square" lIns="0" tIns="0" rIns="0" bIns="0" anchor="t">
            <a:spAutoFit/>
          </a:bodyPr>
          <a:lstStyle/>
          <a:p>
            <a:pPr algn="l"/>
            <a:r>
              <a:rPr sz="1200" b="0" i="0" u="none" dirty="0">
                <a:solidFill>
                  <a:srgbClr val="A8A29E"/>
                </a:solidFill>
                <a:latin typeface="Inter SemiBold"/>
              </a:rPr>
              <a:t>03</a:t>
            </a:r>
          </a:p>
        </p:txBody>
      </p:sp>
      <p:sp>
        <p:nvSpPr>
          <p:cNvPr id="4" name="Rectangle 3"/>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1500" y="533400"/>
            <a:ext cx="6070758" cy="485775"/>
          </a:xfrm>
          <a:prstGeom prst="rect">
            <a:avLst/>
          </a:prstGeom>
          <a:noFill/>
        </p:spPr>
        <p:txBody>
          <a:bodyPr wrap="square" lIns="0" tIns="0" rIns="0" bIns="0" anchor="t">
            <a:spAutoFit/>
          </a:bodyPr>
          <a:lstStyle/>
          <a:p>
            <a:pPr algn="l"/>
            <a:r>
              <a:rPr sz="3150" b="1" i="0" u="none">
                <a:solidFill>
                  <a:srgbClr val="2C241B"/>
                </a:solidFill>
                <a:latin typeface="Inter"/>
              </a:rPr>
              <a:t>2. Prompt Engineering (Part 1)</a:t>
            </a:r>
          </a:p>
        </p:txBody>
      </p:sp>
      <p:sp>
        <p:nvSpPr>
          <p:cNvPr id="6" name="TextBox 5"/>
          <p:cNvSpPr txBox="1"/>
          <p:nvPr/>
        </p:nvSpPr>
        <p:spPr>
          <a:xfrm>
            <a:off x="571500" y="16097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System Prompts</a:t>
            </a:r>
          </a:p>
        </p:txBody>
      </p:sp>
      <p:sp>
        <p:nvSpPr>
          <p:cNvPr id="7" name="TextBox 6"/>
          <p:cNvSpPr txBox="1"/>
          <p:nvPr/>
        </p:nvSpPr>
        <p:spPr>
          <a:xfrm>
            <a:off x="571500" y="1981200"/>
            <a:ext cx="11049000" cy="5715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High-level instructions that define the AI's operational boundaries, and overarching rules. The system prompt acts as the primary constraint layer and security guardrail before any dynamic user interaction occurs.</a:t>
            </a:r>
            <a:r>
              <a:rPr lang="en-IN" sz="1500" b="0" i="0" u="none" dirty="0">
                <a:solidFill>
                  <a:srgbClr val="4A4A4A"/>
                </a:solidFill>
                <a:latin typeface="Inter"/>
              </a:rPr>
              <a:t> Usually given by the developer.</a:t>
            </a:r>
            <a:endParaRPr sz="1500" b="0" i="0" u="none" dirty="0">
              <a:solidFill>
                <a:srgbClr val="4A4A4A"/>
              </a:solidFill>
              <a:latin typeface="Inter"/>
            </a:endParaRPr>
          </a:p>
        </p:txBody>
      </p:sp>
      <p:sp>
        <p:nvSpPr>
          <p:cNvPr id="8" name="TextBox 7"/>
          <p:cNvSpPr txBox="1"/>
          <p:nvPr/>
        </p:nvSpPr>
        <p:spPr>
          <a:xfrm>
            <a:off x="571500" y="29813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User Prompts</a:t>
            </a:r>
          </a:p>
        </p:txBody>
      </p:sp>
      <p:sp>
        <p:nvSpPr>
          <p:cNvPr id="9" name="TextBox 8"/>
          <p:cNvSpPr txBox="1"/>
          <p:nvPr/>
        </p:nvSpPr>
        <p:spPr>
          <a:xfrm>
            <a:off x="571500" y="3352800"/>
            <a:ext cx="11049000" cy="5715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specific queries, tasks, or inputs provided dynamically by the end-user or application logic. Effective user prompts must be clear, contextual, and direct the model toward the immediate goal without contradicting system instructions.</a:t>
            </a:r>
          </a:p>
        </p:txBody>
      </p:sp>
      <p:sp>
        <p:nvSpPr>
          <p:cNvPr id="10" name="TextBox 9"/>
          <p:cNvSpPr txBox="1"/>
          <p:nvPr/>
        </p:nvSpPr>
        <p:spPr>
          <a:xfrm>
            <a:off x="571500" y="43529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Few-Shot Prompting</a:t>
            </a:r>
          </a:p>
        </p:txBody>
      </p:sp>
      <p:sp>
        <p:nvSpPr>
          <p:cNvPr id="11" name="TextBox 10"/>
          <p:cNvSpPr txBox="1"/>
          <p:nvPr/>
        </p:nvSpPr>
        <p:spPr>
          <a:xfrm>
            <a:off x="571500" y="4724400"/>
            <a:ext cx="11049000" cy="5715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A technique involving providing a few concrete examples of desired input-output pairs within the prompt itself. This significantly improves the model's reliability in adhering to strict formatting and mimicking specific reasoning patterns.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381675" y="1314450"/>
            <a:ext cx="5238750" cy="5257800"/>
          </a:xfrm>
          <a:prstGeom prst="rect">
            <a:avLst/>
          </a:prstGeom>
        </p:spPr>
      </p:pic>
      <p:pic>
        <p:nvPicPr>
          <p:cNvPr id="3" name="Picture 2" descr="image.png"/>
          <p:cNvPicPr>
            <a:picLocks noChangeAspect="1"/>
          </p:cNvPicPr>
          <p:nvPr/>
        </p:nvPicPr>
        <p:blipFill>
          <a:blip r:embed="rId3"/>
          <a:stretch>
            <a:fillRect/>
          </a:stretch>
        </p:blipFill>
        <p:spPr>
          <a:xfrm>
            <a:off x="7141815" y="2000250"/>
            <a:ext cx="3718470" cy="2457450"/>
          </a:xfrm>
          <a:prstGeom prst="rect">
            <a:avLst/>
          </a:prstGeom>
        </p:spPr>
      </p:pic>
      <p:pic>
        <p:nvPicPr>
          <p:cNvPr id="4" name="Picture 3" descr="image.png"/>
          <p:cNvPicPr>
            <a:picLocks noChangeAspect="1"/>
          </p:cNvPicPr>
          <p:nvPr/>
        </p:nvPicPr>
        <p:blipFill>
          <a:blip r:embed="rId4"/>
          <a:stretch>
            <a:fillRect/>
          </a:stretch>
        </p:blipFill>
        <p:spPr>
          <a:xfrm>
            <a:off x="8086725" y="5019675"/>
            <a:ext cx="1828800" cy="542925"/>
          </a:xfrm>
          <a:prstGeom prst="rect">
            <a:avLst/>
          </a:prstGeom>
        </p:spPr>
      </p:pic>
      <p:pic>
        <p:nvPicPr>
          <p:cNvPr id="5" name="Picture 4" descr="image.png"/>
          <p:cNvPicPr>
            <a:picLocks noChangeAspect="1"/>
          </p:cNvPicPr>
          <p:nvPr/>
        </p:nvPicPr>
        <p:blipFill>
          <a:blip r:embed="rId5"/>
          <a:stretch>
            <a:fillRect/>
          </a:stretch>
        </p:blipFill>
        <p:spPr>
          <a:xfrm>
            <a:off x="7586662" y="6029325"/>
            <a:ext cx="2828925" cy="542925"/>
          </a:xfrm>
          <a:prstGeom prst="rect">
            <a:avLst/>
          </a:prstGeom>
        </p:spPr>
      </p:pic>
      <p:pic>
        <p:nvPicPr>
          <p:cNvPr id="6" name="Picture 5" descr="image.png"/>
          <p:cNvPicPr>
            <a:picLocks noChangeAspect="1"/>
          </p:cNvPicPr>
          <p:nvPr/>
        </p:nvPicPr>
        <p:blipFill>
          <a:blip r:embed="rId6"/>
          <a:stretch>
            <a:fillRect/>
          </a:stretch>
        </p:blipFill>
        <p:spPr>
          <a:xfrm>
            <a:off x="7351365" y="2466975"/>
            <a:ext cx="3299370" cy="542925"/>
          </a:xfrm>
          <a:prstGeom prst="rect">
            <a:avLst/>
          </a:prstGeom>
        </p:spPr>
      </p:pic>
      <p:pic>
        <p:nvPicPr>
          <p:cNvPr id="7" name="Picture 6" descr="image.png"/>
          <p:cNvPicPr>
            <a:picLocks noChangeAspect="1"/>
          </p:cNvPicPr>
          <p:nvPr/>
        </p:nvPicPr>
        <p:blipFill>
          <a:blip r:embed="rId7"/>
          <a:stretch>
            <a:fillRect/>
          </a:stretch>
        </p:blipFill>
        <p:spPr>
          <a:xfrm>
            <a:off x="7351365" y="3086100"/>
            <a:ext cx="3299370" cy="542925"/>
          </a:xfrm>
          <a:prstGeom prst="rect">
            <a:avLst/>
          </a:prstGeom>
        </p:spPr>
      </p:pic>
      <p:pic>
        <p:nvPicPr>
          <p:cNvPr id="8" name="Picture 7" descr="image.png"/>
          <p:cNvPicPr>
            <a:picLocks noChangeAspect="1"/>
          </p:cNvPicPr>
          <p:nvPr/>
        </p:nvPicPr>
        <p:blipFill>
          <a:blip r:embed="rId8"/>
          <a:stretch>
            <a:fillRect/>
          </a:stretch>
        </p:blipFill>
        <p:spPr>
          <a:xfrm>
            <a:off x="7351365" y="3705225"/>
            <a:ext cx="3299370" cy="542925"/>
          </a:xfrm>
          <a:prstGeom prst="rect">
            <a:avLst/>
          </a:prstGeom>
        </p:spPr>
      </p:pic>
      <p:sp>
        <p:nvSpPr>
          <p:cNvPr id="9" name="Rectangle 8"/>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04</a:t>
            </a:r>
          </a:p>
        </p:txBody>
      </p:sp>
      <p:sp>
        <p:nvSpPr>
          <p:cNvPr id="11" name="Rectangle 10"/>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1500" y="533400"/>
            <a:ext cx="6150768" cy="485775"/>
          </a:xfrm>
          <a:prstGeom prst="rect">
            <a:avLst/>
          </a:prstGeom>
          <a:noFill/>
        </p:spPr>
        <p:txBody>
          <a:bodyPr wrap="square" lIns="0" tIns="0" rIns="0" bIns="0" anchor="t">
            <a:spAutoFit/>
          </a:bodyPr>
          <a:lstStyle/>
          <a:p>
            <a:pPr algn="l"/>
            <a:r>
              <a:rPr sz="3150" b="1" i="0" u="none">
                <a:solidFill>
                  <a:srgbClr val="2C241B"/>
                </a:solidFill>
                <a:latin typeface="Inter"/>
              </a:rPr>
              <a:t>2. Prompt Engineering (Part 2)</a:t>
            </a:r>
          </a:p>
        </p:txBody>
      </p:sp>
      <p:sp>
        <p:nvSpPr>
          <p:cNvPr id="13" name="TextBox 12"/>
          <p:cNvSpPr txBox="1"/>
          <p:nvPr/>
        </p:nvSpPr>
        <p:spPr>
          <a:xfrm>
            <a:off x="571500" y="16097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Structured Prompts</a:t>
            </a:r>
          </a:p>
        </p:txBody>
      </p:sp>
      <p:sp>
        <p:nvSpPr>
          <p:cNvPr id="14" name="TextBox 13"/>
          <p:cNvSpPr txBox="1"/>
          <p:nvPr/>
        </p:nvSpPr>
        <p:spPr>
          <a:xfrm>
            <a:off x="571500" y="1981200"/>
            <a:ext cx="5238750" cy="14287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practice of organizing a prompt using clear section headers (e.g., [Context], [Task], [Rules]) to guide the LLM's attention. This structural clarity prevents the model from ignoring specific constraints within complex, lengthy requests.</a:t>
            </a:r>
          </a:p>
        </p:txBody>
      </p:sp>
      <p:sp>
        <p:nvSpPr>
          <p:cNvPr id="15" name="TextBox 14"/>
          <p:cNvSpPr txBox="1"/>
          <p:nvPr/>
        </p:nvSpPr>
        <p:spPr>
          <a:xfrm>
            <a:off x="571500" y="37433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Output Constraints</a:t>
            </a:r>
          </a:p>
        </p:txBody>
      </p:sp>
      <p:sp>
        <p:nvSpPr>
          <p:cNvPr id="16" name="TextBox 15"/>
          <p:cNvSpPr txBox="1"/>
          <p:nvPr/>
        </p:nvSpPr>
        <p:spPr>
          <a:xfrm>
            <a:off x="571500" y="4114800"/>
            <a:ext cx="5238750" cy="14287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Explicit instructions demanding a specific format, length limit, tone, or exclusion of pleasantries. Implementing strict constraints ensures predictability, which is crucial for downstream applications that rely on parsing the model's response programmatically.</a:t>
            </a:r>
          </a:p>
        </p:txBody>
      </p:sp>
      <p:sp>
        <p:nvSpPr>
          <p:cNvPr id="17" name="TextBox 16"/>
          <p:cNvSpPr txBox="1"/>
          <p:nvPr/>
        </p:nvSpPr>
        <p:spPr>
          <a:xfrm>
            <a:off x="7351365" y="2209800"/>
            <a:ext cx="3299370" cy="161925"/>
          </a:xfrm>
          <a:prstGeom prst="rect">
            <a:avLst/>
          </a:prstGeom>
          <a:noFill/>
        </p:spPr>
        <p:txBody>
          <a:bodyPr wrap="square" lIns="0" tIns="0" rIns="0" bIns="0" anchor="t">
            <a:spAutoFit/>
          </a:bodyPr>
          <a:lstStyle/>
          <a:p>
            <a:pPr algn="ctr"/>
            <a:r>
              <a:rPr sz="1050" b="0" i="0" u="none">
                <a:solidFill>
                  <a:srgbClr val="8B5A2B"/>
                </a:solidFill>
                <a:latin typeface="Inter SemiBold"/>
              </a:rPr>
              <a:t>PROMPT STRUCTURE</a:t>
            </a:r>
          </a:p>
        </p:txBody>
      </p:sp>
      <p:sp>
        <p:nvSpPr>
          <p:cNvPr id="18" name="TextBox 17"/>
          <p:cNvSpPr txBox="1"/>
          <p:nvPr/>
        </p:nvSpPr>
        <p:spPr>
          <a:xfrm>
            <a:off x="8896350" y="4648200"/>
            <a:ext cx="20955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
        <p:nvSpPr>
          <p:cNvPr id="19" name="TextBox 18"/>
          <p:cNvSpPr txBox="1"/>
          <p:nvPr/>
        </p:nvSpPr>
        <p:spPr>
          <a:xfrm>
            <a:off x="8896350" y="5657850"/>
            <a:ext cx="20955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05</a:t>
            </a:r>
          </a:p>
        </p:txBody>
      </p:sp>
      <p:sp>
        <p:nvSpPr>
          <p:cNvPr id="4" name="Rectangle 3"/>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1500" y="533400"/>
            <a:ext cx="4180522" cy="485775"/>
          </a:xfrm>
          <a:prstGeom prst="rect">
            <a:avLst/>
          </a:prstGeom>
          <a:noFill/>
        </p:spPr>
        <p:txBody>
          <a:bodyPr wrap="square" lIns="0" tIns="0" rIns="0" bIns="0" anchor="t">
            <a:spAutoFit/>
          </a:bodyPr>
          <a:lstStyle/>
          <a:p>
            <a:pPr algn="l"/>
            <a:r>
              <a:rPr sz="3150" b="1" i="0" u="none">
                <a:solidFill>
                  <a:srgbClr val="2C241B"/>
                </a:solidFill>
                <a:latin typeface="Inter"/>
              </a:rPr>
              <a:t>3. Structured Output</a:t>
            </a:r>
          </a:p>
        </p:txBody>
      </p:sp>
      <p:sp>
        <p:nvSpPr>
          <p:cNvPr id="6" name="TextBox 5"/>
          <p:cNvSpPr txBox="1"/>
          <p:nvPr/>
        </p:nvSpPr>
        <p:spPr>
          <a:xfrm>
            <a:off x="571500" y="16097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JSON Outputs</a:t>
            </a:r>
          </a:p>
        </p:txBody>
      </p:sp>
      <p:sp>
        <p:nvSpPr>
          <p:cNvPr id="7" name="TextBox 6"/>
          <p:cNvSpPr txBox="1"/>
          <p:nvPr/>
        </p:nvSpPr>
        <p:spPr>
          <a:xfrm>
            <a:off x="571500" y="198120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Forcing the LLM to return its response strictly in valid JSON format rather than conversational plain text. This is a non-negotiable requirement when building automated pipelines where traditional application code needs to parse, extract, and act upon the AI's generated data.</a:t>
            </a:r>
          </a:p>
        </p:txBody>
      </p:sp>
      <p:sp>
        <p:nvSpPr>
          <p:cNvPr id="8" name="TextBox 7"/>
          <p:cNvSpPr txBox="1"/>
          <p:nvPr/>
        </p:nvSpPr>
        <p:spPr>
          <a:xfrm>
            <a:off x="571500" y="326707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Schemas</a:t>
            </a:r>
          </a:p>
        </p:txBody>
      </p:sp>
      <p:sp>
        <p:nvSpPr>
          <p:cNvPr id="9" name="TextBox 8"/>
          <p:cNvSpPr txBox="1"/>
          <p:nvPr/>
        </p:nvSpPr>
        <p:spPr>
          <a:xfrm>
            <a:off x="571500" y="363855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Defining the exact data structure, specific keys, nested objects, and data types (string, int, boolean) the model must strictly follow. By providing a JSON schema in the prompt or API call, developers establish a rigid programmatic contract, ensuring the LLM output acts as a reliable data object for the software system.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381749" y="1314450"/>
            <a:ext cx="5238750" cy="5029200"/>
          </a:xfrm>
          <a:prstGeom prst="rect">
            <a:avLst/>
          </a:prstGeom>
        </p:spPr>
      </p:pic>
      <p:pic>
        <p:nvPicPr>
          <p:cNvPr id="3" name="Picture 2" descr="image.png"/>
          <p:cNvPicPr>
            <a:picLocks noChangeAspect="1"/>
          </p:cNvPicPr>
          <p:nvPr/>
        </p:nvPicPr>
        <p:blipFill>
          <a:blip r:embed="rId3"/>
          <a:stretch>
            <a:fillRect/>
          </a:stretch>
        </p:blipFill>
        <p:spPr>
          <a:xfrm>
            <a:off x="6677025" y="3009900"/>
            <a:ext cx="4648200" cy="2228850"/>
          </a:xfrm>
          <a:prstGeom prst="rect">
            <a:avLst/>
          </a:prstGeom>
        </p:spPr>
      </p:pic>
      <p:pic>
        <p:nvPicPr>
          <p:cNvPr id="4" name="Picture 3" descr="image.png"/>
          <p:cNvPicPr>
            <a:picLocks noChangeAspect="1"/>
          </p:cNvPicPr>
          <p:nvPr/>
        </p:nvPicPr>
        <p:blipFill>
          <a:blip r:embed="rId4"/>
          <a:stretch>
            <a:fillRect/>
          </a:stretch>
        </p:blipFill>
        <p:spPr>
          <a:xfrm>
            <a:off x="8577262" y="1905000"/>
            <a:ext cx="847725" cy="542925"/>
          </a:xfrm>
          <a:prstGeom prst="rect">
            <a:avLst/>
          </a:prstGeom>
        </p:spPr>
      </p:pic>
      <p:pic>
        <p:nvPicPr>
          <p:cNvPr id="5" name="Picture 4" descr="image.png"/>
          <p:cNvPicPr>
            <a:picLocks noChangeAspect="1"/>
          </p:cNvPicPr>
          <p:nvPr/>
        </p:nvPicPr>
        <p:blipFill>
          <a:blip r:embed="rId5"/>
          <a:stretch>
            <a:fillRect/>
          </a:stretch>
        </p:blipFill>
        <p:spPr>
          <a:xfrm>
            <a:off x="7558087" y="5800725"/>
            <a:ext cx="2886075" cy="542925"/>
          </a:xfrm>
          <a:prstGeom prst="rect">
            <a:avLst/>
          </a:prstGeom>
        </p:spPr>
      </p:pic>
      <p:pic>
        <p:nvPicPr>
          <p:cNvPr id="6" name="Picture 5" descr="image.png"/>
          <p:cNvPicPr>
            <a:picLocks noChangeAspect="1"/>
          </p:cNvPicPr>
          <p:nvPr/>
        </p:nvPicPr>
        <p:blipFill>
          <a:blip r:embed="rId6"/>
          <a:stretch>
            <a:fillRect/>
          </a:stretch>
        </p:blipFill>
        <p:spPr>
          <a:xfrm>
            <a:off x="6886575" y="3476625"/>
            <a:ext cx="4229100" cy="542925"/>
          </a:xfrm>
          <a:prstGeom prst="rect">
            <a:avLst/>
          </a:prstGeom>
        </p:spPr>
      </p:pic>
      <p:pic>
        <p:nvPicPr>
          <p:cNvPr id="7" name="Picture 6" descr="image.png"/>
          <p:cNvPicPr>
            <a:picLocks noChangeAspect="1"/>
          </p:cNvPicPr>
          <p:nvPr/>
        </p:nvPicPr>
        <p:blipFill>
          <a:blip r:embed="rId7"/>
          <a:stretch>
            <a:fillRect/>
          </a:stretch>
        </p:blipFill>
        <p:spPr>
          <a:xfrm>
            <a:off x="6886575" y="4486275"/>
            <a:ext cx="4229100" cy="542925"/>
          </a:xfrm>
          <a:prstGeom prst="rect">
            <a:avLst/>
          </a:prstGeom>
        </p:spPr>
      </p:pic>
      <p:sp>
        <p:nvSpPr>
          <p:cNvPr id="8" name="Rectangle 7"/>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06</a:t>
            </a:r>
          </a:p>
        </p:txBody>
      </p:sp>
      <p:sp>
        <p:nvSpPr>
          <p:cNvPr id="10" name="Rectangle 9"/>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1500" y="533400"/>
            <a:ext cx="2880360" cy="485775"/>
          </a:xfrm>
          <a:prstGeom prst="rect">
            <a:avLst/>
          </a:prstGeom>
          <a:noFill/>
        </p:spPr>
        <p:txBody>
          <a:bodyPr wrap="square" lIns="0" tIns="0" rIns="0" bIns="0" anchor="t">
            <a:spAutoFit/>
          </a:bodyPr>
          <a:lstStyle/>
          <a:p>
            <a:pPr algn="l"/>
            <a:r>
              <a:rPr sz="3150" b="1" i="0" u="none">
                <a:solidFill>
                  <a:srgbClr val="2C241B"/>
                </a:solidFill>
                <a:latin typeface="Inter"/>
              </a:rPr>
              <a:t>3. Tool Calling</a:t>
            </a:r>
          </a:p>
        </p:txBody>
      </p:sp>
      <p:sp>
        <p:nvSpPr>
          <p:cNvPr id="12" name="TextBox 11"/>
          <p:cNvSpPr txBox="1"/>
          <p:nvPr/>
        </p:nvSpPr>
        <p:spPr>
          <a:xfrm>
            <a:off x="571500" y="16097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Function/Tool Calling</a:t>
            </a:r>
          </a:p>
        </p:txBody>
      </p:sp>
      <p:sp>
        <p:nvSpPr>
          <p:cNvPr id="13" name="TextBox 12"/>
          <p:cNvSpPr txBox="1"/>
          <p:nvPr/>
        </p:nvSpPr>
        <p:spPr>
          <a:xfrm>
            <a:off x="571500" y="1981200"/>
            <a:ext cx="5238750" cy="14287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A mechanism where the LLM recognizes it needs external information or action. It temporarily halts text generation to propose a specific function execution. The host application runs the function and returns the result back to the model to continue its reasoning.</a:t>
            </a:r>
          </a:p>
        </p:txBody>
      </p:sp>
      <p:sp>
        <p:nvSpPr>
          <p:cNvPr id="14" name="TextBox 13"/>
          <p:cNvSpPr txBox="1"/>
          <p:nvPr/>
        </p:nvSpPr>
        <p:spPr>
          <a:xfrm>
            <a:off x="571500" y="37433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Passing Parameters to Tools</a:t>
            </a:r>
          </a:p>
        </p:txBody>
      </p:sp>
      <p:sp>
        <p:nvSpPr>
          <p:cNvPr id="15" name="TextBox 14"/>
          <p:cNvSpPr txBox="1"/>
          <p:nvPr/>
        </p:nvSpPr>
        <p:spPr>
          <a:xfrm>
            <a:off x="571500" y="4114800"/>
            <a:ext cx="5238750" cy="17145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During a tool call, the LLM dynamically extracts arguments from the user's prompt and formats them according to the tool's predefined schema. Because the model can hallucinate arguments, the application logic must treat these parameters as untrusted input and validate them before execution.</a:t>
            </a:r>
          </a:p>
        </p:txBody>
      </p:sp>
      <p:sp>
        <p:nvSpPr>
          <p:cNvPr id="16" name="TextBox 15"/>
          <p:cNvSpPr txBox="1"/>
          <p:nvPr/>
        </p:nvSpPr>
        <p:spPr>
          <a:xfrm>
            <a:off x="6886575" y="3219450"/>
            <a:ext cx="4229100" cy="161925"/>
          </a:xfrm>
          <a:prstGeom prst="rect">
            <a:avLst/>
          </a:prstGeom>
          <a:noFill/>
        </p:spPr>
        <p:txBody>
          <a:bodyPr wrap="square" lIns="0" tIns="0" rIns="0" bIns="0" anchor="t">
            <a:spAutoFit/>
          </a:bodyPr>
          <a:lstStyle/>
          <a:p>
            <a:pPr algn="ctr"/>
            <a:r>
              <a:rPr sz="1050" b="0" i="0" u="none">
                <a:solidFill>
                  <a:srgbClr val="8B5A2B"/>
                </a:solidFill>
                <a:latin typeface="Inter SemiBold"/>
              </a:rPr>
              <a:t>HOST APPLICATION</a:t>
            </a:r>
          </a:p>
        </p:txBody>
      </p:sp>
      <p:sp>
        <p:nvSpPr>
          <p:cNvPr id="17" name="TextBox 16"/>
          <p:cNvSpPr txBox="1"/>
          <p:nvPr/>
        </p:nvSpPr>
        <p:spPr>
          <a:xfrm>
            <a:off x="7329487" y="2543175"/>
            <a:ext cx="3343275" cy="276225"/>
          </a:xfrm>
          <a:prstGeom prst="rect">
            <a:avLst/>
          </a:prstGeom>
          <a:noFill/>
        </p:spPr>
        <p:txBody>
          <a:bodyPr wrap="square" lIns="0" tIns="0" rIns="0" bIns="0" anchor="ctr">
            <a:spAutoFit/>
          </a:bodyPr>
          <a:lstStyle/>
          <a:p>
            <a:pPr algn="ctr"/>
            <a:r>
              <a:rPr sz="1800" b="1" i="0" u="none">
                <a:solidFill>
                  <a:srgbClr val="8B5A2B"/>
                </a:solidFill>
                <a:latin typeface="Inter"/>
              </a:rPr>
              <a:t>↓ Proposes Tool + JSON Args</a:t>
            </a:r>
          </a:p>
        </p:txBody>
      </p:sp>
      <p:sp>
        <p:nvSpPr>
          <p:cNvPr id="18" name="TextBox 17"/>
          <p:cNvSpPr txBox="1"/>
          <p:nvPr/>
        </p:nvSpPr>
        <p:spPr>
          <a:xfrm>
            <a:off x="7567612" y="5429250"/>
            <a:ext cx="2867025" cy="276225"/>
          </a:xfrm>
          <a:prstGeom prst="rect">
            <a:avLst/>
          </a:prstGeom>
          <a:noFill/>
        </p:spPr>
        <p:txBody>
          <a:bodyPr wrap="square" lIns="0" tIns="0" rIns="0" bIns="0" anchor="ctr">
            <a:spAutoFit/>
          </a:bodyPr>
          <a:lstStyle/>
          <a:p>
            <a:pPr algn="ctr"/>
            <a:r>
              <a:rPr sz="1800" b="1" i="0" u="none">
                <a:solidFill>
                  <a:srgbClr val="8B5A2B"/>
                </a:solidFill>
                <a:latin typeface="Inter"/>
              </a:rPr>
              <a:t>↑ Returns Result Payload</a:t>
            </a:r>
          </a:p>
        </p:txBody>
      </p:sp>
      <p:sp>
        <p:nvSpPr>
          <p:cNvPr id="19" name="TextBox 18"/>
          <p:cNvSpPr txBox="1"/>
          <p:nvPr/>
        </p:nvSpPr>
        <p:spPr>
          <a:xfrm>
            <a:off x="6886575" y="4114800"/>
            <a:ext cx="422910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07</a:t>
            </a:r>
          </a:p>
        </p:txBody>
      </p:sp>
      <p:sp>
        <p:nvSpPr>
          <p:cNvPr id="4" name="Rectangle 3"/>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1500" y="533400"/>
            <a:ext cx="4580572" cy="485775"/>
          </a:xfrm>
          <a:prstGeom prst="rect">
            <a:avLst/>
          </a:prstGeom>
          <a:noFill/>
        </p:spPr>
        <p:txBody>
          <a:bodyPr wrap="square" lIns="0" tIns="0" rIns="0" bIns="0" anchor="t">
            <a:spAutoFit/>
          </a:bodyPr>
          <a:lstStyle/>
          <a:p>
            <a:pPr algn="l"/>
            <a:r>
              <a:rPr sz="3150" b="1" i="0" u="none">
                <a:solidFill>
                  <a:srgbClr val="2C241B"/>
                </a:solidFill>
                <a:latin typeface="Inter"/>
              </a:rPr>
              <a:t>4. Embeddings (Part 1)</a:t>
            </a:r>
          </a:p>
        </p:txBody>
      </p:sp>
      <p:sp>
        <p:nvSpPr>
          <p:cNvPr id="6" name="TextBox 5"/>
          <p:cNvSpPr txBox="1"/>
          <p:nvPr/>
        </p:nvSpPr>
        <p:spPr>
          <a:xfrm>
            <a:off x="571500" y="16097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Text Embeddings</a:t>
            </a:r>
          </a:p>
        </p:txBody>
      </p:sp>
      <p:sp>
        <p:nvSpPr>
          <p:cNvPr id="7" name="TextBox 6"/>
          <p:cNvSpPr txBox="1"/>
          <p:nvPr/>
        </p:nvSpPr>
        <p:spPr>
          <a:xfrm>
            <a:off x="571500" y="1981200"/>
            <a:ext cx="11049000" cy="85725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The transformation of human-readable text high-dimensional numerical vectors (arrays of floating-point numbers). This mathematical representation allows computers to process language fundamentally, placing words or sentences with similar meanings near each other in vector space.</a:t>
            </a:r>
          </a:p>
        </p:txBody>
      </p:sp>
      <p:sp>
        <p:nvSpPr>
          <p:cNvPr id="8" name="TextBox 7"/>
          <p:cNvSpPr txBox="1"/>
          <p:nvPr/>
        </p:nvSpPr>
        <p:spPr>
          <a:xfrm>
            <a:off x="571500" y="326707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Semantic Similarity</a:t>
            </a:r>
          </a:p>
        </p:txBody>
      </p:sp>
      <p:sp>
        <p:nvSpPr>
          <p:cNvPr id="9" name="TextBox 8"/>
          <p:cNvSpPr txBox="1"/>
          <p:nvPr/>
        </p:nvSpPr>
        <p:spPr>
          <a:xfrm>
            <a:off x="571500" y="363855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concept of comparing the underlying meaning, context, and intent of two pieces of text, regardless of exact keyword matches. Unlike traditional search that looks for identical words, semantic similarity enables AI systems to successfully handle paraphrases, synonyms, and broader conceptual relationships.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381750" y="1609725"/>
            <a:ext cx="5238750" cy="4867275"/>
          </a:xfrm>
          <a:prstGeom prst="rect">
            <a:avLst/>
          </a:prstGeom>
        </p:spPr>
      </p:pic>
      <p:pic>
        <p:nvPicPr>
          <p:cNvPr id="3" name="Picture 2" descr="image.png"/>
          <p:cNvPicPr>
            <a:picLocks noChangeAspect="1"/>
          </p:cNvPicPr>
          <p:nvPr/>
        </p:nvPicPr>
        <p:blipFill>
          <a:blip r:embed="rId3"/>
          <a:stretch>
            <a:fillRect/>
          </a:stretch>
        </p:blipFill>
        <p:spPr>
          <a:xfrm>
            <a:off x="6896100" y="3662362"/>
            <a:ext cx="1824281" cy="1064247"/>
          </a:xfrm>
          <a:prstGeom prst="rect">
            <a:avLst/>
          </a:prstGeom>
        </p:spPr>
      </p:pic>
      <p:pic>
        <p:nvPicPr>
          <p:cNvPr id="4" name="Picture 3" descr="image.png"/>
          <p:cNvPicPr>
            <a:picLocks noChangeAspect="1"/>
          </p:cNvPicPr>
          <p:nvPr/>
        </p:nvPicPr>
        <p:blipFill>
          <a:blip r:embed="rId4"/>
          <a:stretch>
            <a:fillRect/>
          </a:stretch>
        </p:blipFill>
        <p:spPr>
          <a:xfrm>
            <a:off x="6896100" y="3497777"/>
            <a:ext cx="1225804" cy="1225805"/>
          </a:xfrm>
          <a:prstGeom prst="rect">
            <a:avLst/>
          </a:prstGeom>
        </p:spPr>
      </p:pic>
      <p:sp>
        <p:nvSpPr>
          <p:cNvPr id="5" name="Rectangle 4"/>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08</a:t>
            </a:r>
          </a:p>
        </p:txBody>
      </p:sp>
      <p:sp>
        <p:nvSpPr>
          <p:cNvPr id="7" name="Rectangle 6"/>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533400"/>
            <a:ext cx="4660582" cy="485775"/>
          </a:xfrm>
          <a:prstGeom prst="rect">
            <a:avLst/>
          </a:prstGeom>
          <a:noFill/>
        </p:spPr>
        <p:txBody>
          <a:bodyPr wrap="square" lIns="0" tIns="0" rIns="0" bIns="0" anchor="t">
            <a:spAutoFit/>
          </a:bodyPr>
          <a:lstStyle/>
          <a:p>
            <a:pPr algn="l"/>
            <a:r>
              <a:rPr sz="3150" b="1" i="0" u="none">
                <a:solidFill>
                  <a:srgbClr val="2C241B"/>
                </a:solidFill>
                <a:latin typeface="Inter"/>
              </a:rPr>
              <a:t>4. Embeddings (Part 2)</a:t>
            </a:r>
          </a:p>
        </p:txBody>
      </p:sp>
      <p:sp>
        <p:nvSpPr>
          <p:cNvPr id="9" name="TextBox 8"/>
          <p:cNvSpPr txBox="1"/>
          <p:nvPr/>
        </p:nvSpPr>
        <p:spPr>
          <a:xfrm>
            <a:off x="571500" y="16097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Cosine Similarity</a:t>
            </a:r>
          </a:p>
        </p:txBody>
      </p:sp>
      <p:sp>
        <p:nvSpPr>
          <p:cNvPr id="10" name="TextBox 9"/>
          <p:cNvSpPr txBox="1"/>
          <p:nvPr/>
        </p:nvSpPr>
        <p:spPr>
          <a:xfrm>
            <a:off x="571500" y="1981200"/>
            <a:ext cx="5238750" cy="17145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A specific mathematical metric used to measure the angle between two embedding vectors in space. A smaller angle (resulting in a cosine value closer to 1) indicates high semantic similarity. It is preferred because it focuses entirely on direction, ensuring that the length of the document does not skew the relevance score.</a:t>
            </a:r>
          </a:p>
        </p:txBody>
      </p:sp>
      <p:sp>
        <p:nvSpPr>
          <p:cNvPr id="11" name="TextBox 10"/>
          <p:cNvSpPr txBox="1"/>
          <p:nvPr/>
        </p:nvSpPr>
        <p:spPr>
          <a:xfrm>
            <a:off x="571500" y="402907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Embedding Models</a:t>
            </a:r>
          </a:p>
        </p:txBody>
      </p:sp>
      <p:sp>
        <p:nvSpPr>
          <p:cNvPr id="12" name="TextBox 11"/>
          <p:cNvSpPr txBox="1"/>
          <p:nvPr/>
        </p:nvSpPr>
        <p:spPr>
          <a:xfrm>
            <a:off x="571500" y="4400550"/>
            <a:ext cx="5238750" cy="1156855"/>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Specialized neural networks designed exclusively to transform raw text into uniform vector representations. Choosing the right model is critical; once data is embedded, changing the model requires re-embedding the entire corporate corpus.</a:t>
            </a:r>
          </a:p>
        </p:txBody>
      </p:sp>
      <p:sp>
        <p:nvSpPr>
          <p:cNvPr id="13" name="TextBox 12"/>
          <p:cNvSpPr txBox="1"/>
          <p:nvPr/>
        </p:nvSpPr>
        <p:spPr>
          <a:xfrm>
            <a:off x="8134350" y="4824412"/>
            <a:ext cx="952500" cy="190500"/>
          </a:xfrm>
          <a:prstGeom prst="rect">
            <a:avLst/>
          </a:prstGeom>
          <a:noFill/>
        </p:spPr>
        <p:txBody>
          <a:bodyPr wrap="square" lIns="0" tIns="0" rIns="0" bIns="0" anchor="t">
            <a:spAutoFit/>
          </a:bodyPr>
          <a:lstStyle/>
          <a:p>
            <a:pPr algn="l"/>
            <a:r>
              <a:rPr sz="1200" b="1" i="0" u="none">
                <a:solidFill>
                  <a:srgbClr val="4A4A4A"/>
                </a:solidFill>
                <a:latin typeface="Inter"/>
              </a:rPr>
              <a:t>Dimension X</a:t>
            </a:r>
          </a:p>
        </p:txBody>
      </p:sp>
      <p:sp>
        <p:nvSpPr>
          <p:cNvPr id="14" name="TextBox 13"/>
          <p:cNvSpPr txBox="1"/>
          <p:nvPr/>
        </p:nvSpPr>
        <p:spPr>
          <a:xfrm rot="5400000">
            <a:off x="6268963" y="3441110"/>
            <a:ext cx="962689" cy="184666"/>
          </a:xfrm>
          <a:prstGeom prst="rect">
            <a:avLst/>
          </a:prstGeom>
          <a:noFill/>
        </p:spPr>
        <p:txBody>
          <a:bodyPr wrap="square" lIns="0" tIns="0" rIns="0" bIns="0" anchor="t">
            <a:spAutoFit/>
          </a:bodyPr>
          <a:lstStyle/>
          <a:p>
            <a:pPr algn="l"/>
            <a:r>
              <a:rPr sz="1200" b="1" i="0" u="none" dirty="0">
                <a:solidFill>
                  <a:srgbClr val="4A4A4A"/>
                </a:solidFill>
                <a:latin typeface="Inter"/>
              </a:rPr>
              <a:t>Dimension Y</a:t>
            </a:r>
          </a:p>
        </p:txBody>
      </p:sp>
      <p:sp>
        <p:nvSpPr>
          <p:cNvPr id="15" name="Rounded Rectangle 14"/>
          <p:cNvSpPr/>
          <p:nvPr/>
        </p:nvSpPr>
        <p:spPr>
          <a:xfrm>
            <a:off x="6657975" y="4014787"/>
            <a:ext cx="952500" cy="952500"/>
          </a:xfrm>
          <a:prstGeom prst="roundRect">
            <a:avLst>
              <a:gd name="adj" fmla="val 50000"/>
            </a:avLst>
          </a:prstGeom>
          <a:noFill/>
          <a:ln w="19050">
            <a:solidFill>
              <a:srgbClr val="A8A2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58100" y="4205287"/>
            <a:ext cx="1590675" cy="142875"/>
          </a:xfrm>
          <a:prstGeom prst="rect">
            <a:avLst/>
          </a:prstGeom>
          <a:noFill/>
        </p:spPr>
        <p:txBody>
          <a:bodyPr wrap="square" lIns="0" tIns="0" rIns="0" bIns="0" anchor="t">
            <a:spAutoFit/>
          </a:bodyPr>
          <a:lstStyle/>
          <a:p>
            <a:pPr algn="l"/>
            <a:r>
              <a:rPr sz="900" b="1" i="0" u="none">
                <a:solidFill>
                  <a:srgbClr val="8B5A2B"/>
                </a:solidFill>
                <a:latin typeface="Inter"/>
              </a:rPr>
              <a:t>Small Angle = High Similarity</a:t>
            </a:r>
          </a:p>
        </p:txBody>
      </p:sp>
      <p:sp>
        <p:nvSpPr>
          <p:cNvPr id="17" name="Rounded Rectangle 16"/>
          <p:cNvSpPr/>
          <p:nvPr/>
        </p:nvSpPr>
        <p:spPr>
          <a:xfrm>
            <a:off x="8645799" y="3597305"/>
            <a:ext cx="130114" cy="130114"/>
          </a:xfrm>
          <a:prstGeom prst="roundRect">
            <a:avLst>
              <a:gd name="adj" fmla="val 50000"/>
            </a:avLst>
          </a:prstGeom>
          <a:solidFill>
            <a:srgbClr val="8B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79348" y="3265640"/>
            <a:ext cx="823363" cy="568856"/>
          </a:xfrm>
          <a:prstGeom prst="rect">
            <a:avLst/>
          </a:prstGeom>
          <a:noFill/>
        </p:spPr>
        <p:txBody>
          <a:bodyPr wrap="square" lIns="0" tIns="0" rIns="0" bIns="0" anchor="t">
            <a:spAutoFit/>
          </a:bodyPr>
          <a:lstStyle/>
          <a:p>
            <a:pPr algn="l"/>
            <a:r>
              <a:rPr sz="1050" b="1" i="0" u="none">
                <a:solidFill>
                  <a:srgbClr val="333333"/>
                </a:solidFill>
                <a:latin typeface="Inter"/>
              </a:rPr>
              <a:t>Query Vector</a:t>
            </a:r>
          </a:p>
        </p:txBody>
      </p:sp>
      <p:sp>
        <p:nvSpPr>
          <p:cNvPr id="19" name="Rounded Rectangle 18"/>
          <p:cNvSpPr/>
          <p:nvPr/>
        </p:nvSpPr>
        <p:spPr>
          <a:xfrm>
            <a:off x="8041082" y="3430426"/>
            <a:ext cx="134703" cy="134703"/>
          </a:xfrm>
          <a:prstGeom prst="roundRect">
            <a:avLst>
              <a:gd name="adj" fmla="val 50000"/>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569619" y="3194694"/>
            <a:ext cx="619637" cy="619637"/>
          </a:xfrm>
          <a:prstGeom prst="rect">
            <a:avLst/>
          </a:prstGeom>
          <a:noFill/>
        </p:spPr>
        <p:txBody>
          <a:bodyPr wrap="square" lIns="0" tIns="0" rIns="0" bIns="0" anchor="t">
            <a:spAutoFit/>
          </a:bodyPr>
          <a:lstStyle/>
          <a:p>
            <a:pPr algn="l"/>
            <a:r>
              <a:rPr sz="1050" b="1" i="0" u="none">
                <a:solidFill>
                  <a:srgbClr val="333333"/>
                </a:solidFill>
                <a:latin typeface="Inter"/>
              </a:rPr>
              <a:t>Doc Vector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381750" y="1328371"/>
            <a:ext cx="5238750" cy="5114925"/>
          </a:xfrm>
          <a:prstGeom prst="rect">
            <a:avLst/>
          </a:prstGeom>
        </p:spPr>
      </p:pic>
      <p:pic>
        <p:nvPicPr>
          <p:cNvPr id="3" name="Picture 2" descr="image.png"/>
          <p:cNvPicPr>
            <a:picLocks noChangeAspect="1"/>
          </p:cNvPicPr>
          <p:nvPr/>
        </p:nvPicPr>
        <p:blipFill>
          <a:blip r:embed="rId3"/>
          <a:stretch>
            <a:fillRect/>
          </a:stretch>
        </p:blipFill>
        <p:spPr>
          <a:xfrm>
            <a:off x="6677025" y="2043112"/>
            <a:ext cx="4648200" cy="4248150"/>
          </a:xfrm>
          <a:prstGeom prst="rect">
            <a:avLst/>
          </a:prstGeom>
        </p:spPr>
      </p:pic>
      <p:pic>
        <p:nvPicPr>
          <p:cNvPr id="4" name="Picture 3" descr="image.png"/>
          <p:cNvPicPr>
            <a:picLocks noChangeAspect="1"/>
          </p:cNvPicPr>
          <p:nvPr/>
        </p:nvPicPr>
        <p:blipFill>
          <a:blip r:embed="rId4"/>
          <a:stretch>
            <a:fillRect/>
          </a:stretch>
        </p:blipFill>
        <p:spPr>
          <a:xfrm>
            <a:off x="6886575" y="2509837"/>
            <a:ext cx="4229100" cy="542925"/>
          </a:xfrm>
          <a:prstGeom prst="rect">
            <a:avLst/>
          </a:prstGeom>
        </p:spPr>
      </p:pic>
      <p:pic>
        <p:nvPicPr>
          <p:cNvPr id="5" name="Picture 4" descr="image.png"/>
          <p:cNvPicPr>
            <a:picLocks noChangeAspect="1"/>
          </p:cNvPicPr>
          <p:nvPr/>
        </p:nvPicPr>
        <p:blipFill>
          <a:blip r:embed="rId5"/>
          <a:stretch>
            <a:fillRect/>
          </a:stretch>
        </p:blipFill>
        <p:spPr>
          <a:xfrm>
            <a:off x="6886575" y="3519487"/>
            <a:ext cx="4229100" cy="542925"/>
          </a:xfrm>
          <a:prstGeom prst="rect">
            <a:avLst/>
          </a:prstGeom>
        </p:spPr>
      </p:pic>
      <p:pic>
        <p:nvPicPr>
          <p:cNvPr id="6" name="Picture 5" descr="image.png"/>
          <p:cNvPicPr>
            <a:picLocks noChangeAspect="1"/>
          </p:cNvPicPr>
          <p:nvPr/>
        </p:nvPicPr>
        <p:blipFill>
          <a:blip r:embed="rId6"/>
          <a:stretch>
            <a:fillRect/>
          </a:stretch>
        </p:blipFill>
        <p:spPr>
          <a:xfrm>
            <a:off x="6886575" y="4529137"/>
            <a:ext cx="4229100" cy="542925"/>
          </a:xfrm>
          <a:prstGeom prst="rect">
            <a:avLst/>
          </a:prstGeom>
        </p:spPr>
      </p:pic>
      <p:pic>
        <p:nvPicPr>
          <p:cNvPr id="7" name="Picture 6" descr="image.png"/>
          <p:cNvPicPr>
            <a:picLocks noChangeAspect="1"/>
          </p:cNvPicPr>
          <p:nvPr/>
        </p:nvPicPr>
        <p:blipFill>
          <a:blip r:embed="rId7"/>
          <a:stretch>
            <a:fillRect/>
          </a:stretch>
        </p:blipFill>
        <p:spPr>
          <a:xfrm>
            <a:off x="6886575" y="5538787"/>
            <a:ext cx="4229100" cy="542925"/>
          </a:xfrm>
          <a:prstGeom prst="rect">
            <a:avLst/>
          </a:prstGeom>
        </p:spPr>
      </p:pic>
      <p:sp>
        <p:nvSpPr>
          <p:cNvPr id="8" name="Rectangle 7"/>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09</a:t>
            </a:r>
          </a:p>
        </p:txBody>
      </p:sp>
      <p:sp>
        <p:nvSpPr>
          <p:cNvPr id="10" name="Rectangle 9"/>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1500" y="533400"/>
            <a:ext cx="5890736" cy="485775"/>
          </a:xfrm>
          <a:prstGeom prst="rect">
            <a:avLst/>
          </a:prstGeom>
          <a:noFill/>
        </p:spPr>
        <p:txBody>
          <a:bodyPr wrap="square" lIns="0" tIns="0" rIns="0" bIns="0" anchor="t">
            <a:spAutoFit/>
          </a:bodyPr>
          <a:lstStyle/>
          <a:p>
            <a:pPr algn="l"/>
            <a:r>
              <a:rPr sz="3150" b="1" i="0" u="none">
                <a:solidFill>
                  <a:srgbClr val="2C241B"/>
                </a:solidFill>
                <a:latin typeface="Inter"/>
              </a:rPr>
              <a:t>5. RAG Fundamentals (Part 1)</a:t>
            </a:r>
          </a:p>
        </p:txBody>
      </p:sp>
      <p:sp>
        <p:nvSpPr>
          <p:cNvPr id="12" name="TextBox 11"/>
          <p:cNvSpPr txBox="1"/>
          <p:nvPr/>
        </p:nvSpPr>
        <p:spPr>
          <a:xfrm>
            <a:off x="571500" y="16097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Document Loading</a:t>
            </a:r>
          </a:p>
        </p:txBody>
      </p:sp>
      <p:sp>
        <p:nvSpPr>
          <p:cNvPr id="13" name="TextBox 12"/>
          <p:cNvSpPr txBox="1"/>
          <p:nvPr/>
        </p:nvSpPr>
        <p:spPr>
          <a:xfrm>
            <a:off x="571500" y="1981200"/>
            <a:ext cx="523875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initial ingestion phase of extracting raw text from various unstructured enterprise sources (PDFs, Word docs, internal wikis) into a standardized data pipeline.</a:t>
            </a:r>
          </a:p>
        </p:txBody>
      </p:sp>
      <p:sp>
        <p:nvSpPr>
          <p:cNvPr id="14" name="TextBox 13"/>
          <p:cNvSpPr txBox="1"/>
          <p:nvPr/>
        </p:nvSpPr>
        <p:spPr>
          <a:xfrm>
            <a:off x="571500" y="31718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Chunking</a:t>
            </a:r>
          </a:p>
        </p:txBody>
      </p:sp>
      <p:sp>
        <p:nvSpPr>
          <p:cNvPr id="15" name="TextBox 14"/>
          <p:cNvSpPr txBox="1"/>
          <p:nvPr/>
        </p:nvSpPr>
        <p:spPr>
          <a:xfrm>
            <a:off x="571500" y="3543300"/>
            <a:ext cx="523875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Splitting large, monolithic documents into smaller, semantically meaningful text segments. Too small chunks lose context, while too large chunks dilute the quality of vector search and exceed token limits.</a:t>
            </a:r>
          </a:p>
        </p:txBody>
      </p:sp>
      <p:sp>
        <p:nvSpPr>
          <p:cNvPr id="16" name="TextBox 15"/>
          <p:cNvSpPr txBox="1"/>
          <p:nvPr/>
        </p:nvSpPr>
        <p:spPr>
          <a:xfrm>
            <a:off x="571500" y="501967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Embeddings</a:t>
            </a:r>
          </a:p>
        </p:txBody>
      </p:sp>
      <p:sp>
        <p:nvSpPr>
          <p:cNvPr id="17" name="TextBox 16"/>
          <p:cNvSpPr txBox="1"/>
          <p:nvPr/>
        </p:nvSpPr>
        <p:spPr>
          <a:xfrm>
            <a:off x="571500" y="5391150"/>
            <a:ext cx="523875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Converting these individual text chunks into mathematical vector representations via an embedding model, preparing the enterprise knowledge to be indexed and searched computationally.</a:t>
            </a:r>
          </a:p>
        </p:txBody>
      </p:sp>
      <p:sp>
        <p:nvSpPr>
          <p:cNvPr id="18" name="TextBox 17"/>
          <p:cNvSpPr txBox="1"/>
          <p:nvPr/>
        </p:nvSpPr>
        <p:spPr>
          <a:xfrm>
            <a:off x="6886575" y="2252662"/>
            <a:ext cx="4229100" cy="161925"/>
          </a:xfrm>
          <a:prstGeom prst="rect">
            <a:avLst/>
          </a:prstGeom>
          <a:noFill/>
        </p:spPr>
        <p:txBody>
          <a:bodyPr wrap="square" lIns="0" tIns="0" rIns="0" bIns="0" anchor="t">
            <a:spAutoFit/>
          </a:bodyPr>
          <a:lstStyle/>
          <a:p>
            <a:pPr algn="ctr"/>
            <a:r>
              <a:rPr sz="1050" b="0" i="0" u="none">
                <a:solidFill>
                  <a:srgbClr val="8B5A2B"/>
                </a:solidFill>
                <a:latin typeface="Inter SemiBold"/>
              </a:rPr>
              <a:t>DATA INGESTION PIPELINE</a:t>
            </a:r>
          </a:p>
        </p:txBody>
      </p:sp>
      <p:sp>
        <p:nvSpPr>
          <p:cNvPr id="19" name="TextBox 18"/>
          <p:cNvSpPr txBox="1"/>
          <p:nvPr/>
        </p:nvSpPr>
        <p:spPr>
          <a:xfrm>
            <a:off x="6886575" y="3148012"/>
            <a:ext cx="422910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
        <p:nvSpPr>
          <p:cNvPr id="20" name="TextBox 19"/>
          <p:cNvSpPr txBox="1"/>
          <p:nvPr/>
        </p:nvSpPr>
        <p:spPr>
          <a:xfrm>
            <a:off x="6886575" y="4157662"/>
            <a:ext cx="422910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
        <p:nvSpPr>
          <p:cNvPr id="21" name="TextBox 20"/>
          <p:cNvSpPr txBox="1"/>
          <p:nvPr/>
        </p:nvSpPr>
        <p:spPr>
          <a:xfrm>
            <a:off x="6886575" y="5167312"/>
            <a:ext cx="422910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10</a:t>
            </a:r>
          </a:p>
        </p:txBody>
      </p:sp>
      <p:sp>
        <p:nvSpPr>
          <p:cNvPr id="4" name="Rectangle 3"/>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1500" y="533400"/>
            <a:ext cx="5970746" cy="485775"/>
          </a:xfrm>
          <a:prstGeom prst="rect">
            <a:avLst/>
          </a:prstGeom>
          <a:noFill/>
        </p:spPr>
        <p:txBody>
          <a:bodyPr wrap="square" lIns="0" tIns="0" rIns="0" bIns="0" anchor="t">
            <a:spAutoFit/>
          </a:bodyPr>
          <a:lstStyle/>
          <a:p>
            <a:pPr algn="l"/>
            <a:r>
              <a:rPr sz="3150" b="1" i="0" u="none">
                <a:solidFill>
                  <a:srgbClr val="2C241B"/>
                </a:solidFill>
                <a:latin typeface="Inter"/>
              </a:rPr>
              <a:t>5. RAG Fundamentals (Part 2)</a:t>
            </a:r>
          </a:p>
        </p:txBody>
      </p:sp>
      <p:sp>
        <p:nvSpPr>
          <p:cNvPr id="6" name="TextBox 5"/>
          <p:cNvSpPr txBox="1"/>
          <p:nvPr/>
        </p:nvSpPr>
        <p:spPr>
          <a:xfrm>
            <a:off x="571500" y="16097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Retrieval</a:t>
            </a:r>
          </a:p>
        </p:txBody>
      </p:sp>
      <p:sp>
        <p:nvSpPr>
          <p:cNvPr id="7" name="TextBox 6"/>
          <p:cNvSpPr txBox="1"/>
          <p:nvPr/>
        </p:nvSpPr>
        <p:spPr>
          <a:xfrm>
            <a:off x="571500" y="198120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real-time process of embedding a user's prompt and searching the vector index for chunks that most closely match the query's semantic meaning. It bridges the gap between static LLM weights and dynamic, proprietary external knowledge.</a:t>
            </a:r>
          </a:p>
        </p:txBody>
      </p:sp>
      <p:sp>
        <p:nvSpPr>
          <p:cNvPr id="8" name="TextBox 7"/>
          <p:cNvSpPr txBox="1"/>
          <p:nvPr/>
        </p:nvSpPr>
        <p:spPr>
          <a:xfrm>
            <a:off x="571500" y="3090862"/>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Context Injection</a:t>
            </a:r>
          </a:p>
        </p:txBody>
      </p:sp>
      <p:sp>
        <p:nvSpPr>
          <p:cNvPr id="9" name="TextBox 8"/>
          <p:cNvSpPr txBox="1"/>
          <p:nvPr/>
        </p:nvSpPr>
        <p:spPr>
          <a:xfrm>
            <a:off x="571500" y="3479190"/>
            <a:ext cx="11049000" cy="5715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Programmatically appending the retrieved, highly relevant text chunks directly into the LLM's system prompt or context window. This temporarily expands the model's knowledge base specifically for the current interaction.</a:t>
            </a:r>
          </a:p>
        </p:txBody>
      </p:sp>
      <p:sp>
        <p:nvSpPr>
          <p:cNvPr id="10" name="TextBox 9"/>
          <p:cNvSpPr txBox="1"/>
          <p:nvPr/>
        </p:nvSpPr>
        <p:spPr>
          <a:xfrm>
            <a:off x="571500" y="463867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Answer Generation</a:t>
            </a:r>
          </a:p>
        </p:txBody>
      </p:sp>
      <p:sp>
        <p:nvSpPr>
          <p:cNvPr id="11" name="TextBox 10"/>
          <p:cNvSpPr txBox="1"/>
          <p:nvPr/>
        </p:nvSpPr>
        <p:spPr>
          <a:xfrm>
            <a:off x="571500" y="501015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final step where the LLM inference engine synthesizes the injected context to formulate a coherent, accurate response. The model is typically instructed to strictly base its answer only on the provided documents to minimize hallucination risks.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11</a:t>
            </a:r>
          </a:p>
        </p:txBody>
      </p:sp>
      <p:sp>
        <p:nvSpPr>
          <p:cNvPr id="4" name="Rectangle 3"/>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1500" y="533400"/>
            <a:ext cx="7910988" cy="485775"/>
          </a:xfrm>
          <a:prstGeom prst="rect">
            <a:avLst/>
          </a:prstGeom>
          <a:noFill/>
        </p:spPr>
        <p:txBody>
          <a:bodyPr wrap="square" lIns="0" tIns="0" rIns="0" bIns="0" anchor="t">
            <a:spAutoFit/>
          </a:bodyPr>
          <a:lstStyle/>
          <a:p>
            <a:pPr algn="l"/>
            <a:r>
              <a:rPr sz="3150" b="1" i="0" u="none">
                <a:solidFill>
                  <a:srgbClr val="2C241B"/>
                </a:solidFill>
                <a:latin typeface="Inter"/>
              </a:rPr>
              <a:t>6. Vector Databases &amp; Retrieval (Part 1)</a:t>
            </a:r>
          </a:p>
        </p:txBody>
      </p:sp>
      <p:sp>
        <p:nvSpPr>
          <p:cNvPr id="6" name="TextBox 5"/>
          <p:cNvSpPr txBox="1"/>
          <p:nvPr/>
        </p:nvSpPr>
        <p:spPr>
          <a:xfrm>
            <a:off x="571500" y="16097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Vector Stores</a:t>
            </a:r>
          </a:p>
        </p:txBody>
      </p:sp>
      <p:sp>
        <p:nvSpPr>
          <p:cNvPr id="7" name="TextBox 6"/>
          <p:cNvSpPr txBox="1"/>
          <p:nvPr/>
        </p:nvSpPr>
        <p:spPr>
          <a:xfrm>
            <a:off x="571500" y="1981200"/>
            <a:ext cx="11049000" cy="5715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Specialized databases (e.g., Pinecone, Milvus) optimized specifically for storing high-dimensional vectors. They utilize advanced indexing algorithms (like HNSW) to perform rapid similarity comparisons across massive datasets at scale.</a:t>
            </a:r>
          </a:p>
        </p:txBody>
      </p:sp>
      <p:sp>
        <p:nvSpPr>
          <p:cNvPr id="8" name="TextBox 7"/>
          <p:cNvSpPr txBox="1"/>
          <p:nvPr/>
        </p:nvSpPr>
        <p:spPr>
          <a:xfrm>
            <a:off x="571500" y="29813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Metadata Filtering</a:t>
            </a:r>
          </a:p>
        </p:txBody>
      </p:sp>
      <p:sp>
        <p:nvSpPr>
          <p:cNvPr id="9" name="TextBox 8"/>
          <p:cNvSpPr txBox="1"/>
          <p:nvPr/>
        </p:nvSpPr>
        <p:spPr>
          <a:xfrm>
            <a:off x="571500" y="335280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practice of storing standard attributes (source names, document types, dates, access tiers) alongside the vector embeddings. This allows the system to rigidly pre-filter search results based on specific categories before executing the heavier semantic search.</a:t>
            </a:r>
          </a:p>
        </p:txBody>
      </p:sp>
      <p:sp>
        <p:nvSpPr>
          <p:cNvPr id="10" name="TextBox 9"/>
          <p:cNvSpPr txBox="1"/>
          <p:nvPr/>
        </p:nvSpPr>
        <p:spPr>
          <a:xfrm>
            <a:off x="571500" y="4462462"/>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Top-k Retrieval</a:t>
            </a:r>
          </a:p>
        </p:txBody>
      </p:sp>
      <p:sp>
        <p:nvSpPr>
          <p:cNvPr id="11" name="TextBox 10"/>
          <p:cNvSpPr txBox="1"/>
          <p:nvPr/>
        </p:nvSpPr>
        <p:spPr>
          <a:xfrm>
            <a:off x="571500" y="4962525"/>
            <a:ext cx="11049000" cy="5715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A strict configuration parameter dictating that the search engine should return exactly the top 'k' most similar vectors to the query. Tuning 'k' involves balancing the need for comprehensive context against the strict token limits of the LLM.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381750" y="1366837"/>
            <a:ext cx="5238750" cy="4867275"/>
          </a:xfrm>
          <a:prstGeom prst="rect">
            <a:avLst/>
          </a:prstGeom>
        </p:spPr>
      </p:pic>
      <p:pic>
        <p:nvPicPr>
          <p:cNvPr id="3" name="Picture 2" descr="image.png"/>
          <p:cNvPicPr>
            <a:picLocks noChangeAspect="1"/>
          </p:cNvPicPr>
          <p:nvPr/>
        </p:nvPicPr>
        <p:blipFill>
          <a:blip r:embed="rId3"/>
          <a:stretch>
            <a:fillRect/>
          </a:stretch>
        </p:blipFill>
        <p:spPr>
          <a:xfrm>
            <a:off x="6677025" y="3333750"/>
            <a:ext cx="2091035" cy="1419225"/>
          </a:xfrm>
          <a:prstGeom prst="rect">
            <a:avLst/>
          </a:prstGeom>
        </p:spPr>
      </p:pic>
      <p:pic>
        <p:nvPicPr>
          <p:cNvPr id="4" name="Picture 3" descr="image.png"/>
          <p:cNvPicPr>
            <a:picLocks noChangeAspect="1"/>
          </p:cNvPicPr>
          <p:nvPr/>
        </p:nvPicPr>
        <p:blipFill>
          <a:blip r:embed="rId4"/>
          <a:stretch>
            <a:fillRect/>
          </a:stretch>
        </p:blipFill>
        <p:spPr>
          <a:xfrm>
            <a:off x="9206210" y="3333750"/>
            <a:ext cx="2119014" cy="1419225"/>
          </a:xfrm>
          <a:prstGeom prst="rect">
            <a:avLst/>
          </a:prstGeom>
        </p:spPr>
      </p:pic>
      <p:pic>
        <p:nvPicPr>
          <p:cNvPr id="5" name="Picture 4" descr="image.png"/>
          <p:cNvPicPr>
            <a:picLocks noChangeAspect="1"/>
          </p:cNvPicPr>
          <p:nvPr/>
        </p:nvPicPr>
        <p:blipFill>
          <a:blip r:embed="rId5"/>
          <a:stretch>
            <a:fillRect/>
          </a:stretch>
        </p:blipFill>
        <p:spPr>
          <a:xfrm>
            <a:off x="8277225" y="2228850"/>
            <a:ext cx="1447800" cy="542925"/>
          </a:xfrm>
          <a:prstGeom prst="rect">
            <a:avLst/>
          </a:prstGeom>
        </p:spPr>
      </p:pic>
      <p:pic>
        <p:nvPicPr>
          <p:cNvPr id="6" name="Picture 5" descr="image.png"/>
          <p:cNvPicPr>
            <a:picLocks noChangeAspect="1"/>
          </p:cNvPicPr>
          <p:nvPr/>
        </p:nvPicPr>
        <p:blipFill>
          <a:blip r:embed="rId6"/>
          <a:stretch>
            <a:fillRect/>
          </a:stretch>
        </p:blipFill>
        <p:spPr>
          <a:xfrm>
            <a:off x="7477125" y="5314950"/>
            <a:ext cx="3048000" cy="542925"/>
          </a:xfrm>
          <a:prstGeom prst="rect">
            <a:avLst/>
          </a:prstGeom>
        </p:spPr>
      </p:pic>
      <p:pic>
        <p:nvPicPr>
          <p:cNvPr id="7" name="Picture 6" descr="image.png"/>
          <p:cNvPicPr>
            <a:picLocks noChangeAspect="1"/>
          </p:cNvPicPr>
          <p:nvPr/>
        </p:nvPicPr>
        <p:blipFill>
          <a:blip r:embed="rId7"/>
          <a:stretch>
            <a:fillRect/>
          </a:stretch>
        </p:blipFill>
        <p:spPr>
          <a:xfrm>
            <a:off x="6886575" y="3800475"/>
            <a:ext cx="1671935" cy="742950"/>
          </a:xfrm>
          <a:prstGeom prst="rect">
            <a:avLst/>
          </a:prstGeom>
        </p:spPr>
      </p:pic>
      <p:pic>
        <p:nvPicPr>
          <p:cNvPr id="8" name="Picture 7" descr="image.png"/>
          <p:cNvPicPr>
            <a:picLocks noChangeAspect="1"/>
          </p:cNvPicPr>
          <p:nvPr/>
        </p:nvPicPr>
        <p:blipFill>
          <a:blip r:embed="rId8"/>
          <a:stretch>
            <a:fillRect/>
          </a:stretch>
        </p:blipFill>
        <p:spPr>
          <a:xfrm>
            <a:off x="9415760" y="3800475"/>
            <a:ext cx="1699914" cy="742950"/>
          </a:xfrm>
          <a:prstGeom prst="rect">
            <a:avLst/>
          </a:prstGeom>
        </p:spPr>
      </p:pic>
      <p:sp>
        <p:nvSpPr>
          <p:cNvPr id="9" name="Rectangle 8"/>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12</a:t>
            </a:r>
          </a:p>
        </p:txBody>
      </p:sp>
      <p:sp>
        <p:nvSpPr>
          <p:cNvPr id="11" name="Rectangle 10"/>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1500" y="533400"/>
            <a:ext cx="7990998" cy="485775"/>
          </a:xfrm>
          <a:prstGeom prst="rect">
            <a:avLst/>
          </a:prstGeom>
          <a:noFill/>
        </p:spPr>
        <p:txBody>
          <a:bodyPr wrap="square" lIns="0" tIns="0" rIns="0" bIns="0" anchor="t">
            <a:spAutoFit/>
          </a:bodyPr>
          <a:lstStyle/>
          <a:p>
            <a:pPr algn="l"/>
            <a:r>
              <a:rPr sz="3150" b="1" i="0" u="none">
                <a:solidFill>
                  <a:srgbClr val="2C241B"/>
                </a:solidFill>
                <a:latin typeface="Inter"/>
              </a:rPr>
              <a:t>6. Vector Databases &amp; Retrieval (Part 2)</a:t>
            </a:r>
          </a:p>
        </p:txBody>
      </p:sp>
      <p:sp>
        <p:nvSpPr>
          <p:cNvPr id="13" name="TextBox 12"/>
          <p:cNvSpPr txBox="1"/>
          <p:nvPr/>
        </p:nvSpPr>
        <p:spPr>
          <a:xfrm>
            <a:off x="571500" y="16097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Similarity Search</a:t>
            </a:r>
          </a:p>
        </p:txBody>
      </p:sp>
      <p:sp>
        <p:nvSpPr>
          <p:cNvPr id="14" name="TextBox 13"/>
          <p:cNvSpPr txBox="1"/>
          <p:nvPr/>
        </p:nvSpPr>
        <p:spPr>
          <a:xfrm>
            <a:off x="571500" y="1981200"/>
            <a:ext cx="523875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Finding nearest neighbors in the vector space by relying on mathematical distance metrics (like Cosine or Euclidean) to rank relevance. It captures conceptual intent but may miss highly specific technical jargon.</a:t>
            </a:r>
          </a:p>
        </p:txBody>
      </p:sp>
      <p:sp>
        <p:nvSpPr>
          <p:cNvPr id="15" name="TextBox 14"/>
          <p:cNvSpPr txBox="1"/>
          <p:nvPr/>
        </p:nvSpPr>
        <p:spPr>
          <a:xfrm>
            <a:off x="571500" y="345757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Hybrid Search</a:t>
            </a:r>
          </a:p>
        </p:txBody>
      </p:sp>
      <p:sp>
        <p:nvSpPr>
          <p:cNvPr id="16" name="TextBox 15"/>
          <p:cNvSpPr txBox="1"/>
          <p:nvPr/>
        </p:nvSpPr>
        <p:spPr>
          <a:xfrm>
            <a:off x="571500" y="3829050"/>
            <a:ext cx="5238750" cy="14287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Combines traditional keyword-based search algorithms (BM25) with semantic vector search. By merging these scores, the system successfully captures both exact terminology and broader conceptual relationships, vastly improving overall retrieval accuracy.</a:t>
            </a:r>
          </a:p>
        </p:txBody>
      </p:sp>
      <p:sp>
        <p:nvSpPr>
          <p:cNvPr id="17" name="TextBox 16"/>
          <p:cNvSpPr txBox="1"/>
          <p:nvPr/>
        </p:nvSpPr>
        <p:spPr>
          <a:xfrm>
            <a:off x="8910935" y="3905250"/>
            <a:ext cx="152400" cy="276225"/>
          </a:xfrm>
          <a:prstGeom prst="rect">
            <a:avLst/>
          </a:prstGeom>
          <a:noFill/>
        </p:spPr>
        <p:txBody>
          <a:bodyPr wrap="square" lIns="0" tIns="0" rIns="0" bIns="0" anchor="t">
            <a:spAutoFit/>
          </a:bodyPr>
          <a:lstStyle/>
          <a:p>
            <a:pPr algn="l"/>
            <a:r>
              <a:rPr sz="1800" b="1" i="0" u="none">
                <a:solidFill>
                  <a:srgbClr val="8B5A2B"/>
                </a:solidFill>
                <a:latin typeface="Inter"/>
              </a:rPr>
              <a:t>+</a:t>
            </a:r>
          </a:p>
        </p:txBody>
      </p:sp>
      <p:sp>
        <p:nvSpPr>
          <p:cNvPr id="18" name="TextBox 17"/>
          <p:cNvSpPr txBox="1"/>
          <p:nvPr/>
        </p:nvSpPr>
        <p:spPr>
          <a:xfrm>
            <a:off x="6886575" y="3543300"/>
            <a:ext cx="1671935" cy="161925"/>
          </a:xfrm>
          <a:prstGeom prst="rect">
            <a:avLst/>
          </a:prstGeom>
          <a:noFill/>
        </p:spPr>
        <p:txBody>
          <a:bodyPr wrap="square" lIns="0" tIns="0" rIns="0" bIns="0" anchor="t">
            <a:spAutoFit/>
          </a:bodyPr>
          <a:lstStyle/>
          <a:p>
            <a:pPr algn="ctr"/>
            <a:r>
              <a:rPr sz="1050" b="0" i="0" u="none">
                <a:solidFill>
                  <a:srgbClr val="8B5A2B"/>
                </a:solidFill>
                <a:latin typeface="Inter SemiBold"/>
              </a:rPr>
              <a:t>SEMANTIC MATCH</a:t>
            </a:r>
          </a:p>
        </p:txBody>
      </p:sp>
      <p:sp>
        <p:nvSpPr>
          <p:cNvPr id="19" name="TextBox 18"/>
          <p:cNvSpPr txBox="1"/>
          <p:nvPr/>
        </p:nvSpPr>
        <p:spPr>
          <a:xfrm>
            <a:off x="9415760" y="3543300"/>
            <a:ext cx="1699914" cy="161925"/>
          </a:xfrm>
          <a:prstGeom prst="rect">
            <a:avLst/>
          </a:prstGeom>
          <a:noFill/>
        </p:spPr>
        <p:txBody>
          <a:bodyPr wrap="square" lIns="0" tIns="0" rIns="0" bIns="0" anchor="t">
            <a:spAutoFit/>
          </a:bodyPr>
          <a:lstStyle/>
          <a:p>
            <a:pPr algn="ctr"/>
            <a:r>
              <a:rPr sz="1050" b="0" i="0" u="none">
                <a:solidFill>
                  <a:srgbClr val="8B5A2B"/>
                </a:solidFill>
                <a:latin typeface="Inter SemiBold"/>
              </a:rPr>
              <a:t>KEYWORD MATCH</a:t>
            </a:r>
          </a:p>
        </p:txBody>
      </p:sp>
      <p:sp>
        <p:nvSpPr>
          <p:cNvPr id="20" name="TextBox 19"/>
          <p:cNvSpPr txBox="1"/>
          <p:nvPr/>
        </p:nvSpPr>
        <p:spPr>
          <a:xfrm>
            <a:off x="8896350" y="2867025"/>
            <a:ext cx="20955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
        <p:nvSpPr>
          <p:cNvPr id="21" name="TextBox 20"/>
          <p:cNvSpPr txBox="1"/>
          <p:nvPr/>
        </p:nvSpPr>
        <p:spPr>
          <a:xfrm>
            <a:off x="8896350" y="4943475"/>
            <a:ext cx="20955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13</a:t>
            </a:r>
          </a:p>
        </p:txBody>
      </p:sp>
      <p:sp>
        <p:nvSpPr>
          <p:cNvPr id="4" name="Rectangle 3"/>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1500" y="533400"/>
            <a:ext cx="6620827" cy="485775"/>
          </a:xfrm>
          <a:prstGeom prst="rect">
            <a:avLst/>
          </a:prstGeom>
          <a:noFill/>
        </p:spPr>
        <p:txBody>
          <a:bodyPr wrap="square" lIns="0" tIns="0" rIns="0" bIns="0" anchor="t">
            <a:spAutoFit/>
          </a:bodyPr>
          <a:lstStyle/>
          <a:p>
            <a:pPr algn="l"/>
            <a:r>
              <a:rPr sz="3150" b="1" i="0" u="none">
                <a:solidFill>
                  <a:srgbClr val="2C241B"/>
                </a:solidFill>
                <a:latin typeface="Inter"/>
              </a:rPr>
              <a:t>7. RAG Evaluation &amp; Optimization</a:t>
            </a:r>
          </a:p>
        </p:txBody>
      </p:sp>
      <p:sp>
        <p:nvSpPr>
          <p:cNvPr id="6" name="TextBox 5"/>
          <p:cNvSpPr txBox="1"/>
          <p:nvPr/>
        </p:nvSpPr>
        <p:spPr>
          <a:xfrm>
            <a:off x="571500" y="1609725"/>
            <a:ext cx="5400675" cy="295275"/>
          </a:xfrm>
          <a:prstGeom prst="rect">
            <a:avLst/>
          </a:prstGeom>
          <a:noFill/>
        </p:spPr>
        <p:txBody>
          <a:bodyPr wrap="square" lIns="0" tIns="0" rIns="0" bIns="0" anchor="t">
            <a:spAutoFit/>
          </a:bodyPr>
          <a:lstStyle/>
          <a:p>
            <a:pPr algn="l"/>
            <a:r>
              <a:rPr sz="1950" b="0" i="0" u="none">
                <a:solidFill>
                  <a:srgbClr val="8B5A2B"/>
                </a:solidFill>
                <a:latin typeface="Inter SemiBold"/>
              </a:rPr>
              <a:t>Retrieval Quality &amp; Relevance</a:t>
            </a:r>
          </a:p>
        </p:txBody>
      </p:sp>
      <p:sp>
        <p:nvSpPr>
          <p:cNvPr id="7" name="TextBox 6"/>
          <p:cNvSpPr txBox="1"/>
          <p:nvPr/>
        </p:nvSpPr>
        <p:spPr>
          <a:xfrm>
            <a:off x="571500" y="1981200"/>
            <a:ext cx="514350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Measuring precision (the accuracy of retrieved chunks) and recall (capturing all relevant chunks). High relevance ensures the LLM is not distracted by extraneous, conflicting data during answer generation.</a:t>
            </a:r>
          </a:p>
        </p:txBody>
      </p:sp>
      <p:sp>
        <p:nvSpPr>
          <p:cNvPr id="8" name="TextBox 7"/>
          <p:cNvSpPr txBox="1"/>
          <p:nvPr/>
        </p:nvSpPr>
        <p:spPr>
          <a:xfrm>
            <a:off x="6477000" y="1609725"/>
            <a:ext cx="5400675" cy="295275"/>
          </a:xfrm>
          <a:prstGeom prst="rect">
            <a:avLst/>
          </a:prstGeom>
          <a:noFill/>
        </p:spPr>
        <p:txBody>
          <a:bodyPr wrap="square" lIns="0" tIns="0" rIns="0" bIns="0" anchor="t">
            <a:spAutoFit/>
          </a:bodyPr>
          <a:lstStyle/>
          <a:p>
            <a:pPr algn="l"/>
            <a:r>
              <a:rPr sz="1950" b="0" i="0" u="none">
                <a:solidFill>
                  <a:srgbClr val="8B5A2B"/>
                </a:solidFill>
                <a:latin typeface="Inter SemiBold"/>
              </a:rPr>
              <a:t>Chunk-Size Tuning</a:t>
            </a:r>
          </a:p>
        </p:txBody>
      </p:sp>
      <p:sp>
        <p:nvSpPr>
          <p:cNvPr id="9" name="TextBox 8"/>
          <p:cNvSpPr txBox="1"/>
          <p:nvPr/>
        </p:nvSpPr>
        <p:spPr>
          <a:xfrm>
            <a:off x="6477000" y="1981200"/>
            <a:ext cx="514350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iterative process of adjusting the token limit per text split and overlap size to find the optimal balance. Proper tuning prevents context dilution while maintaining specific detail extraction for the model.</a:t>
            </a:r>
          </a:p>
        </p:txBody>
      </p:sp>
      <p:sp>
        <p:nvSpPr>
          <p:cNvPr id="10" name="TextBox 9"/>
          <p:cNvSpPr txBox="1"/>
          <p:nvPr/>
        </p:nvSpPr>
        <p:spPr>
          <a:xfrm>
            <a:off x="571500" y="3600450"/>
            <a:ext cx="5400675" cy="295275"/>
          </a:xfrm>
          <a:prstGeom prst="rect">
            <a:avLst/>
          </a:prstGeom>
          <a:noFill/>
        </p:spPr>
        <p:txBody>
          <a:bodyPr wrap="square" lIns="0" tIns="0" rIns="0" bIns="0" anchor="t">
            <a:spAutoFit/>
          </a:bodyPr>
          <a:lstStyle/>
          <a:p>
            <a:pPr algn="l"/>
            <a:r>
              <a:rPr sz="1950" b="0" i="0" u="none">
                <a:solidFill>
                  <a:srgbClr val="8B5A2B"/>
                </a:solidFill>
                <a:latin typeface="Inter SemiBold"/>
              </a:rPr>
              <a:t>Hallucination Checks</a:t>
            </a:r>
          </a:p>
        </p:txBody>
      </p:sp>
      <p:sp>
        <p:nvSpPr>
          <p:cNvPr id="11" name="TextBox 10"/>
          <p:cNvSpPr txBox="1"/>
          <p:nvPr/>
        </p:nvSpPr>
        <p:spPr>
          <a:xfrm>
            <a:off x="571500" y="3971925"/>
            <a:ext cx="514350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Automated evaluation steps implemented post-generation to verify that the final answer contains no facts absent from the retrieved chunks, ensuring high fidelity to the source documents.</a:t>
            </a:r>
          </a:p>
        </p:txBody>
      </p:sp>
      <p:sp>
        <p:nvSpPr>
          <p:cNvPr id="12" name="TextBox 11"/>
          <p:cNvSpPr txBox="1"/>
          <p:nvPr/>
        </p:nvSpPr>
        <p:spPr>
          <a:xfrm>
            <a:off x="6477000" y="3600450"/>
            <a:ext cx="5400675" cy="295275"/>
          </a:xfrm>
          <a:prstGeom prst="rect">
            <a:avLst/>
          </a:prstGeom>
          <a:noFill/>
        </p:spPr>
        <p:txBody>
          <a:bodyPr wrap="square" lIns="0" tIns="0" rIns="0" bIns="0" anchor="t">
            <a:spAutoFit/>
          </a:bodyPr>
          <a:lstStyle/>
          <a:p>
            <a:pPr algn="l"/>
            <a:r>
              <a:rPr sz="1950" b="0" i="0" u="none">
                <a:solidFill>
                  <a:srgbClr val="8B5A2B"/>
                </a:solidFill>
                <a:latin typeface="Inter SemiBold"/>
              </a:rPr>
              <a:t>Grounding Checks</a:t>
            </a:r>
          </a:p>
        </p:txBody>
      </p:sp>
      <p:sp>
        <p:nvSpPr>
          <p:cNvPr id="13" name="TextBox 12"/>
          <p:cNvSpPr txBox="1"/>
          <p:nvPr/>
        </p:nvSpPr>
        <p:spPr>
          <a:xfrm>
            <a:off x="6477000" y="3971925"/>
            <a:ext cx="514350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process of enforcing traceability, verifying that every claim made by the LLM can be explicitly cited back to a specific sentence in the injected context, eliminating fabricated responses.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460881" y="1301995"/>
            <a:ext cx="5238750" cy="5400675"/>
          </a:xfrm>
          <a:prstGeom prst="rect">
            <a:avLst/>
          </a:prstGeom>
        </p:spPr>
      </p:pic>
      <p:pic>
        <p:nvPicPr>
          <p:cNvPr id="3" name="Picture 2" descr="image.png"/>
          <p:cNvPicPr>
            <a:picLocks noChangeAspect="1"/>
          </p:cNvPicPr>
          <p:nvPr/>
        </p:nvPicPr>
        <p:blipFill>
          <a:blip r:embed="rId3"/>
          <a:stretch>
            <a:fillRect/>
          </a:stretch>
        </p:blipFill>
        <p:spPr>
          <a:xfrm>
            <a:off x="6677025" y="2690812"/>
            <a:ext cx="4648200" cy="3238500"/>
          </a:xfrm>
          <a:prstGeom prst="rect">
            <a:avLst/>
          </a:prstGeom>
        </p:spPr>
      </p:pic>
      <p:pic>
        <p:nvPicPr>
          <p:cNvPr id="4" name="Picture 3" descr="image.png"/>
          <p:cNvPicPr>
            <a:picLocks noChangeAspect="1"/>
          </p:cNvPicPr>
          <p:nvPr/>
        </p:nvPicPr>
        <p:blipFill>
          <a:blip r:embed="rId4"/>
          <a:stretch>
            <a:fillRect/>
          </a:stretch>
        </p:blipFill>
        <p:spPr>
          <a:xfrm>
            <a:off x="6886575" y="3157537"/>
            <a:ext cx="4229100" cy="542925"/>
          </a:xfrm>
          <a:prstGeom prst="rect">
            <a:avLst/>
          </a:prstGeom>
        </p:spPr>
      </p:pic>
      <p:pic>
        <p:nvPicPr>
          <p:cNvPr id="5" name="Picture 4" descr="image.png"/>
          <p:cNvPicPr>
            <a:picLocks noChangeAspect="1"/>
          </p:cNvPicPr>
          <p:nvPr/>
        </p:nvPicPr>
        <p:blipFill>
          <a:blip r:embed="rId5"/>
          <a:stretch>
            <a:fillRect/>
          </a:stretch>
        </p:blipFill>
        <p:spPr>
          <a:xfrm>
            <a:off x="6886575" y="4167187"/>
            <a:ext cx="4229100" cy="542925"/>
          </a:xfrm>
          <a:prstGeom prst="rect">
            <a:avLst/>
          </a:prstGeom>
        </p:spPr>
      </p:pic>
      <p:pic>
        <p:nvPicPr>
          <p:cNvPr id="6" name="Picture 5" descr="image.png"/>
          <p:cNvPicPr>
            <a:picLocks noChangeAspect="1"/>
          </p:cNvPicPr>
          <p:nvPr/>
        </p:nvPicPr>
        <p:blipFill>
          <a:blip r:embed="rId6"/>
          <a:stretch>
            <a:fillRect/>
          </a:stretch>
        </p:blipFill>
        <p:spPr>
          <a:xfrm>
            <a:off x="6886575" y="5176837"/>
            <a:ext cx="4229100" cy="542925"/>
          </a:xfrm>
          <a:prstGeom prst="rect">
            <a:avLst/>
          </a:prstGeom>
        </p:spPr>
      </p:pic>
      <p:sp>
        <p:nvSpPr>
          <p:cNvPr id="7" name="Rectangle 6"/>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14</a:t>
            </a:r>
          </a:p>
        </p:txBody>
      </p:sp>
      <p:sp>
        <p:nvSpPr>
          <p:cNvPr id="9" name="Rectangle 8"/>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533400"/>
            <a:ext cx="4910613" cy="485775"/>
          </a:xfrm>
          <a:prstGeom prst="rect">
            <a:avLst/>
          </a:prstGeom>
          <a:noFill/>
        </p:spPr>
        <p:txBody>
          <a:bodyPr wrap="square" lIns="0" tIns="0" rIns="0" bIns="0" anchor="t">
            <a:spAutoFit/>
          </a:bodyPr>
          <a:lstStyle/>
          <a:p>
            <a:pPr algn="l"/>
            <a:r>
              <a:rPr sz="3150" b="1" i="0" u="none">
                <a:solidFill>
                  <a:srgbClr val="2C241B"/>
                </a:solidFill>
                <a:latin typeface="Inter"/>
              </a:rPr>
              <a:t>8. AI Agent Architecture</a:t>
            </a:r>
          </a:p>
        </p:txBody>
      </p:sp>
      <p:sp>
        <p:nvSpPr>
          <p:cNvPr id="11" name="TextBox 10"/>
          <p:cNvSpPr txBox="1"/>
          <p:nvPr/>
        </p:nvSpPr>
        <p:spPr>
          <a:xfrm>
            <a:off x="571500" y="16097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Agents vs Workflows</a:t>
            </a:r>
          </a:p>
        </p:txBody>
      </p:sp>
      <p:sp>
        <p:nvSpPr>
          <p:cNvPr id="12" name="TextBox 11"/>
          <p:cNvSpPr txBox="1"/>
          <p:nvPr/>
        </p:nvSpPr>
        <p:spPr>
          <a:xfrm>
            <a:off x="571500" y="1981200"/>
            <a:ext cx="523875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Workflows follow rigid, predefined paths. AI Agents autonomously determine the sequence of actions, dynamically reacting to intermediate outputs to achieve a complex goal.</a:t>
            </a:r>
          </a:p>
        </p:txBody>
      </p:sp>
      <p:sp>
        <p:nvSpPr>
          <p:cNvPr id="13" name="TextBox 12"/>
          <p:cNvSpPr txBox="1"/>
          <p:nvPr/>
        </p:nvSpPr>
        <p:spPr>
          <a:xfrm>
            <a:off x="571500" y="3309937"/>
            <a:ext cx="5500687" cy="295275"/>
          </a:xfrm>
          <a:prstGeom prst="rect">
            <a:avLst/>
          </a:prstGeom>
          <a:noFill/>
        </p:spPr>
        <p:txBody>
          <a:bodyPr wrap="square" lIns="0" tIns="0" rIns="0" bIns="0" anchor="t">
            <a:spAutoFit/>
          </a:bodyPr>
          <a:lstStyle/>
          <a:p>
            <a:pPr algn="l"/>
            <a:r>
              <a:rPr sz="1950" b="0" i="0" u="none" dirty="0">
                <a:solidFill>
                  <a:srgbClr val="8B5A2B"/>
                </a:solidFill>
                <a:latin typeface="Inter SemiBold"/>
              </a:rPr>
              <a:t>Planning &amp; Tool Selection</a:t>
            </a:r>
          </a:p>
        </p:txBody>
      </p:sp>
      <p:sp>
        <p:nvSpPr>
          <p:cNvPr id="14" name="TextBox 13"/>
          <p:cNvSpPr txBox="1"/>
          <p:nvPr/>
        </p:nvSpPr>
        <p:spPr>
          <a:xfrm>
            <a:off x="571500" y="3697897"/>
            <a:ext cx="5238750" cy="11430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The cognitive step where the agent breaks down a complex request into a strategy, evaluates its available toolkit, and logically selects the appropriate function based on the immediate sub-task.</a:t>
            </a:r>
          </a:p>
        </p:txBody>
      </p:sp>
      <p:sp>
        <p:nvSpPr>
          <p:cNvPr id="15" name="TextBox 14"/>
          <p:cNvSpPr txBox="1"/>
          <p:nvPr/>
        </p:nvSpPr>
        <p:spPr>
          <a:xfrm>
            <a:off x="571499" y="4933582"/>
            <a:ext cx="5500687" cy="295275"/>
          </a:xfrm>
          <a:prstGeom prst="rect">
            <a:avLst/>
          </a:prstGeom>
          <a:noFill/>
        </p:spPr>
        <p:txBody>
          <a:bodyPr wrap="square" lIns="0" tIns="0" rIns="0" bIns="0" anchor="t">
            <a:spAutoFit/>
          </a:bodyPr>
          <a:lstStyle/>
          <a:p>
            <a:pPr algn="l"/>
            <a:r>
              <a:rPr sz="1950" b="0" i="0" u="none" dirty="0">
                <a:solidFill>
                  <a:srgbClr val="8B5A2B"/>
                </a:solidFill>
                <a:latin typeface="Inter SemiBold"/>
              </a:rPr>
              <a:t>Memory/State &amp; Multi-step Execution</a:t>
            </a:r>
          </a:p>
        </p:txBody>
      </p:sp>
      <p:sp>
        <p:nvSpPr>
          <p:cNvPr id="16" name="TextBox 15"/>
          <p:cNvSpPr txBox="1"/>
          <p:nvPr/>
        </p:nvSpPr>
        <p:spPr>
          <a:xfrm>
            <a:off x="571500" y="5321542"/>
            <a:ext cx="5238750" cy="11430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Agents maintain a running state of previous actions and context. Multi-step execution involves iterating through a continuous cycle of thought, action, and observation until the overarching goal is met.</a:t>
            </a:r>
          </a:p>
        </p:txBody>
      </p:sp>
      <p:sp>
        <p:nvSpPr>
          <p:cNvPr id="17" name="TextBox 16"/>
          <p:cNvSpPr txBox="1"/>
          <p:nvPr/>
        </p:nvSpPr>
        <p:spPr>
          <a:xfrm>
            <a:off x="6886575" y="2900362"/>
            <a:ext cx="4229100" cy="161925"/>
          </a:xfrm>
          <a:prstGeom prst="rect">
            <a:avLst/>
          </a:prstGeom>
          <a:noFill/>
        </p:spPr>
        <p:txBody>
          <a:bodyPr wrap="square" lIns="0" tIns="0" rIns="0" bIns="0" anchor="t">
            <a:spAutoFit/>
          </a:bodyPr>
          <a:lstStyle/>
          <a:p>
            <a:pPr algn="ctr"/>
            <a:r>
              <a:rPr sz="1050" b="0" i="0" u="none">
                <a:solidFill>
                  <a:srgbClr val="8B5A2B"/>
                </a:solidFill>
                <a:latin typeface="Inter SemiBold"/>
              </a:rPr>
              <a:t>AGENT COGNITIVE LOOP</a:t>
            </a:r>
          </a:p>
        </p:txBody>
      </p:sp>
      <p:sp>
        <p:nvSpPr>
          <p:cNvPr id="18" name="Rectangle 17"/>
          <p:cNvSpPr/>
          <p:nvPr/>
        </p:nvSpPr>
        <p:spPr>
          <a:xfrm>
            <a:off x="10829925" y="3271836"/>
            <a:ext cx="357188" cy="2161809"/>
          </a:xfrm>
          <a:prstGeom prst="rect">
            <a:avLst/>
          </a:prstGeom>
          <a:noFill/>
          <a:ln w="19050">
            <a:solidFill>
              <a:srgbClr val="8B5A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98773" y="3296379"/>
            <a:ext cx="190500" cy="257175"/>
          </a:xfrm>
          <a:prstGeom prst="rect">
            <a:avLst/>
          </a:prstGeom>
          <a:noFill/>
        </p:spPr>
        <p:txBody>
          <a:bodyPr wrap="square" lIns="0" tIns="0" rIns="0" bIns="0" anchor="t">
            <a:spAutoFit/>
          </a:bodyPr>
          <a:lstStyle/>
          <a:p>
            <a:pPr algn="ctr"/>
            <a:r>
              <a:rPr sz="1500" b="0" i="0" u="none" dirty="0">
                <a:solidFill>
                  <a:srgbClr val="8B5A2B"/>
                </a:solidFill>
                <a:latin typeface="Inter"/>
              </a:rPr>
              <a:t>◀</a:t>
            </a:r>
          </a:p>
        </p:txBody>
      </p:sp>
      <p:sp>
        <p:nvSpPr>
          <p:cNvPr id="20" name="TextBox 19"/>
          <p:cNvSpPr txBox="1"/>
          <p:nvPr/>
        </p:nvSpPr>
        <p:spPr>
          <a:xfrm>
            <a:off x="6886575" y="3795712"/>
            <a:ext cx="422910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
        <p:nvSpPr>
          <p:cNvPr id="21" name="TextBox 20"/>
          <p:cNvSpPr txBox="1"/>
          <p:nvPr/>
        </p:nvSpPr>
        <p:spPr>
          <a:xfrm>
            <a:off x="6886575" y="4805362"/>
            <a:ext cx="422910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15</a:t>
            </a:r>
          </a:p>
        </p:txBody>
      </p:sp>
      <p:sp>
        <p:nvSpPr>
          <p:cNvPr id="4" name="Rectangle 3"/>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1500" y="533400"/>
            <a:ext cx="5030628" cy="485775"/>
          </a:xfrm>
          <a:prstGeom prst="rect">
            <a:avLst/>
          </a:prstGeom>
          <a:noFill/>
        </p:spPr>
        <p:txBody>
          <a:bodyPr wrap="square" lIns="0" tIns="0" rIns="0" bIns="0" anchor="t">
            <a:spAutoFit/>
          </a:bodyPr>
          <a:lstStyle/>
          <a:p>
            <a:pPr algn="l"/>
            <a:r>
              <a:rPr sz="3150" b="1" i="0" u="none">
                <a:solidFill>
                  <a:srgbClr val="2C241B"/>
                </a:solidFill>
                <a:latin typeface="Inter"/>
              </a:rPr>
              <a:t>9. Agent Tool Integration</a:t>
            </a:r>
          </a:p>
        </p:txBody>
      </p:sp>
      <p:sp>
        <p:nvSpPr>
          <p:cNvPr id="6" name="TextBox 5"/>
          <p:cNvSpPr txBox="1"/>
          <p:nvPr/>
        </p:nvSpPr>
        <p:spPr>
          <a:xfrm>
            <a:off x="571500" y="16097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Connecting Agents to APIs, Databases, &amp; Business Functions</a:t>
            </a:r>
          </a:p>
        </p:txBody>
      </p:sp>
      <p:sp>
        <p:nvSpPr>
          <p:cNvPr id="7" name="TextBox 6"/>
          <p:cNvSpPr txBox="1"/>
          <p:nvPr/>
        </p:nvSpPr>
        <p:spPr>
          <a:xfrm>
            <a:off x="571500" y="198120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Agents interact with the real world by executing mapped functions that hit REST APIs, execute SQL queries against secure databases, or trigger proprietary internal business logic. This transforms passive language models into active system operators.</a:t>
            </a:r>
          </a:p>
        </p:txBody>
      </p:sp>
      <p:sp>
        <p:nvSpPr>
          <p:cNvPr id="8" name="TextBox 7"/>
          <p:cNvSpPr txBox="1"/>
          <p:nvPr/>
        </p:nvSpPr>
        <p:spPr>
          <a:xfrm>
            <a:off x="571500" y="326707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Authentication</a:t>
            </a:r>
          </a:p>
        </p:txBody>
      </p:sp>
      <p:sp>
        <p:nvSpPr>
          <p:cNvPr id="9" name="TextBox 8"/>
          <p:cNvSpPr txBox="1"/>
          <p:nvPr/>
        </p:nvSpPr>
        <p:spPr>
          <a:xfrm>
            <a:off x="571500" y="363855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The critical security layer managing how agents access external systems. Application frameworks securely inject API keys, OAuth tokens, and role-based access controls during tool execution, ensuring the agent operates strictly within enterprise permission boundaries.</a:t>
            </a:r>
          </a:p>
        </p:txBody>
      </p:sp>
      <p:sp>
        <p:nvSpPr>
          <p:cNvPr id="10" name="TextBox 9"/>
          <p:cNvSpPr txBox="1"/>
          <p:nvPr/>
        </p:nvSpPr>
        <p:spPr>
          <a:xfrm>
            <a:off x="571500" y="4924425"/>
            <a:ext cx="11601450" cy="295275"/>
          </a:xfrm>
          <a:prstGeom prst="rect">
            <a:avLst/>
          </a:prstGeom>
          <a:noFill/>
        </p:spPr>
        <p:txBody>
          <a:bodyPr wrap="square" lIns="0" tIns="0" rIns="0" bIns="0" anchor="t">
            <a:spAutoFit/>
          </a:bodyPr>
          <a:lstStyle/>
          <a:p>
            <a:pPr algn="l"/>
            <a:r>
              <a:rPr sz="1950" b="0" i="0" u="none">
                <a:solidFill>
                  <a:srgbClr val="8B5A2B"/>
                </a:solidFill>
                <a:latin typeface="Inter SemiBold"/>
              </a:rPr>
              <a:t>Error Handling</a:t>
            </a:r>
          </a:p>
        </p:txBody>
      </p:sp>
      <p:sp>
        <p:nvSpPr>
          <p:cNvPr id="11" name="TextBox 10"/>
          <p:cNvSpPr txBox="1"/>
          <p:nvPr/>
        </p:nvSpPr>
        <p:spPr>
          <a:xfrm>
            <a:off x="571500" y="5295900"/>
            <a:ext cx="1104900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Designing robust systems where the host application catches API failures, timeouts, or bad responses and feeds the literal error message back to the agent. This allows the LLM to autonomously interpret the error, adjust its parameters, and attempt a self-correction.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381750" y="1609725"/>
            <a:ext cx="5238750" cy="5114925"/>
          </a:xfrm>
          <a:prstGeom prst="rect">
            <a:avLst/>
          </a:prstGeom>
        </p:spPr>
      </p:pic>
      <p:pic>
        <p:nvPicPr>
          <p:cNvPr id="3" name="Picture 2" descr="image.png"/>
          <p:cNvPicPr>
            <a:picLocks noChangeAspect="1"/>
          </p:cNvPicPr>
          <p:nvPr/>
        </p:nvPicPr>
        <p:blipFill>
          <a:blip r:embed="rId3"/>
          <a:stretch>
            <a:fillRect/>
          </a:stretch>
        </p:blipFill>
        <p:spPr>
          <a:xfrm>
            <a:off x="6677025" y="3681412"/>
            <a:ext cx="4648200" cy="971550"/>
          </a:xfrm>
          <a:prstGeom prst="rect">
            <a:avLst/>
          </a:prstGeom>
        </p:spPr>
      </p:pic>
      <p:pic>
        <p:nvPicPr>
          <p:cNvPr id="4" name="Picture 3" descr="image.png"/>
          <p:cNvPicPr>
            <a:picLocks noChangeAspect="1"/>
          </p:cNvPicPr>
          <p:nvPr/>
        </p:nvPicPr>
        <p:blipFill>
          <a:blip r:embed="rId4"/>
          <a:stretch>
            <a:fillRect/>
          </a:stretch>
        </p:blipFill>
        <p:spPr>
          <a:xfrm>
            <a:off x="6677025" y="2576512"/>
            <a:ext cx="4648200" cy="542925"/>
          </a:xfrm>
          <a:prstGeom prst="rect">
            <a:avLst/>
          </a:prstGeom>
        </p:spPr>
      </p:pic>
      <p:pic>
        <p:nvPicPr>
          <p:cNvPr id="5" name="Picture 4" descr="image.png"/>
          <p:cNvPicPr>
            <a:picLocks noChangeAspect="1"/>
          </p:cNvPicPr>
          <p:nvPr/>
        </p:nvPicPr>
        <p:blipFill>
          <a:blip r:embed="rId5"/>
          <a:stretch>
            <a:fillRect/>
          </a:stretch>
        </p:blipFill>
        <p:spPr>
          <a:xfrm>
            <a:off x="6677025" y="5214937"/>
            <a:ext cx="4648200" cy="542925"/>
          </a:xfrm>
          <a:prstGeom prst="rect">
            <a:avLst/>
          </a:prstGeom>
        </p:spPr>
      </p:pic>
      <p:pic>
        <p:nvPicPr>
          <p:cNvPr id="6" name="Picture 5" descr="image.png"/>
          <p:cNvPicPr>
            <a:picLocks noChangeAspect="1"/>
          </p:cNvPicPr>
          <p:nvPr/>
        </p:nvPicPr>
        <p:blipFill>
          <a:blip r:embed="rId6"/>
          <a:stretch>
            <a:fillRect/>
          </a:stretch>
        </p:blipFill>
        <p:spPr>
          <a:xfrm>
            <a:off x="7753350" y="4100512"/>
            <a:ext cx="590550" cy="390525"/>
          </a:xfrm>
          <a:prstGeom prst="rect">
            <a:avLst/>
          </a:prstGeom>
        </p:spPr>
      </p:pic>
      <p:pic>
        <p:nvPicPr>
          <p:cNvPr id="7" name="Picture 6" descr="image.png"/>
          <p:cNvPicPr>
            <a:picLocks noChangeAspect="1"/>
          </p:cNvPicPr>
          <p:nvPr/>
        </p:nvPicPr>
        <p:blipFill>
          <a:blip r:embed="rId7"/>
          <a:stretch>
            <a:fillRect/>
          </a:stretch>
        </p:blipFill>
        <p:spPr>
          <a:xfrm>
            <a:off x="8439150" y="4100512"/>
            <a:ext cx="923925" cy="390525"/>
          </a:xfrm>
          <a:prstGeom prst="rect">
            <a:avLst/>
          </a:prstGeom>
        </p:spPr>
      </p:pic>
      <p:pic>
        <p:nvPicPr>
          <p:cNvPr id="8" name="Picture 7" descr="image.png"/>
          <p:cNvPicPr>
            <a:picLocks noChangeAspect="1"/>
          </p:cNvPicPr>
          <p:nvPr/>
        </p:nvPicPr>
        <p:blipFill>
          <a:blip r:embed="rId8"/>
          <a:stretch>
            <a:fillRect/>
          </a:stretch>
        </p:blipFill>
        <p:spPr>
          <a:xfrm>
            <a:off x="9458325" y="4100512"/>
            <a:ext cx="790575" cy="390525"/>
          </a:xfrm>
          <a:prstGeom prst="rect">
            <a:avLst/>
          </a:prstGeom>
        </p:spPr>
      </p:pic>
      <p:sp>
        <p:nvSpPr>
          <p:cNvPr id="9" name="Rectangle 8"/>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914400"/>
            <a:ext cx="11049000" cy="123825"/>
          </a:xfrm>
          <a:prstGeom prst="rect">
            <a:avLst/>
          </a:prstGeom>
          <a:noFill/>
        </p:spPr>
        <p:txBody>
          <a:bodyPr wrap="square" lIns="0" tIns="0" rIns="0" bIns="0" anchor="t">
            <a:spAutoFit/>
          </a:bodyPr>
          <a:lstStyle/>
          <a:p>
            <a:pPr algn="l"/>
            <a:r>
              <a:rPr sz="1200" b="0" i="0" u="none">
                <a:solidFill>
                  <a:srgbClr val="A8A29E"/>
                </a:solidFill>
                <a:latin typeface="Inter SemiBold"/>
              </a:rPr>
              <a:t>16</a:t>
            </a:r>
          </a:p>
        </p:txBody>
      </p:sp>
      <p:sp>
        <p:nvSpPr>
          <p:cNvPr id="11" name="Rectangle 10"/>
          <p:cNvSpPr/>
          <p:nvPr/>
        </p:nvSpPr>
        <p:spPr>
          <a:xfrm>
            <a:off x="0" y="1209675"/>
            <a:ext cx="12192000" cy="19050"/>
          </a:xfrm>
          <a:prstGeom prst="rect">
            <a:avLst/>
          </a:prstGeom>
          <a:solidFill>
            <a:srgbClr val="F5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1500" y="533400"/>
            <a:ext cx="6890861" cy="485775"/>
          </a:xfrm>
          <a:prstGeom prst="rect">
            <a:avLst/>
          </a:prstGeom>
          <a:noFill/>
        </p:spPr>
        <p:txBody>
          <a:bodyPr wrap="square" lIns="0" tIns="0" rIns="0" bIns="0" anchor="t">
            <a:spAutoFit/>
          </a:bodyPr>
          <a:lstStyle/>
          <a:p>
            <a:pPr algn="l"/>
            <a:r>
              <a:rPr sz="3150" b="1" i="0" u="none">
                <a:solidFill>
                  <a:srgbClr val="2C241B"/>
                </a:solidFill>
                <a:latin typeface="Inter"/>
              </a:rPr>
              <a:t>10. MCP (Model Context Protocol)</a:t>
            </a:r>
          </a:p>
        </p:txBody>
      </p:sp>
      <p:sp>
        <p:nvSpPr>
          <p:cNvPr id="13" name="TextBox 12"/>
          <p:cNvSpPr txBox="1"/>
          <p:nvPr/>
        </p:nvSpPr>
        <p:spPr>
          <a:xfrm>
            <a:off x="571500" y="16097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MCP Client/Server Architecture</a:t>
            </a:r>
          </a:p>
        </p:txBody>
      </p:sp>
      <p:sp>
        <p:nvSpPr>
          <p:cNvPr id="14" name="TextBox 13"/>
          <p:cNvSpPr txBox="1"/>
          <p:nvPr/>
        </p:nvSpPr>
        <p:spPr>
          <a:xfrm>
            <a:off x="571500" y="1981200"/>
            <a:ext cx="5238750" cy="85725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A standardized protocol separating the AI application (Client) from external systems (Server). It unifies how agents securely access different external resources.</a:t>
            </a:r>
          </a:p>
        </p:txBody>
      </p:sp>
      <p:sp>
        <p:nvSpPr>
          <p:cNvPr id="15" name="TextBox 14"/>
          <p:cNvSpPr txBox="1"/>
          <p:nvPr/>
        </p:nvSpPr>
        <p:spPr>
          <a:xfrm>
            <a:off x="571500" y="3171825"/>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Tools, Resources, &amp; Prompts</a:t>
            </a:r>
          </a:p>
        </p:txBody>
      </p:sp>
      <p:sp>
        <p:nvSpPr>
          <p:cNvPr id="16" name="TextBox 15"/>
          <p:cNvSpPr txBox="1"/>
          <p:nvPr/>
        </p:nvSpPr>
        <p:spPr>
          <a:xfrm>
            <a:off x="571500" y="3543300"/>
            <a:ext cx="5238750" cy="1143000"/>
          </a:xfrm>
          <a:prstGeom prst="rect">
            <a:avLst/>
          </a:prstGeom>
          <a:noFill/>
        </p:spPr>
        <p:txBody>
          <a:bodyPr wrap="square" lIns="0" tIns="0" rIns="0" bIns="0" anchor="t">
            <a:spAutoFit/>
          </a:bodyPr>
          <a:lstStyle/>
          <a:p>
            <a:pPr algn="l">
              <a:lnSpc>
                <a:spcPts val="2250"/>
              </a:lnSpc>
            </a:pPr>
            <a:r>
              <a:rPr sz="1500" b="0" i="0" u="none">
                <a:solidFill>
                  <a:srgbClr val="4A4A4A"/>
                </a:solidFill>
                <a:latin typeface="Inter"/>
              </a:rPr>
              <a:t>MCP Servers expose distinct capabilities to the agent: </a:t>
            </a:r>
            <a:r>
              <a:rPr sz="1500" b="0" i="0" u="none">
                <a:solidFill>
                  <a:srgbClr val="2C241B"/>
                </a:solidFill>
                <a:latin typeface="Inter SemiBold"/>
              </a:rPr>
              <a:t>Tools</a:t>
            </a:r>
            <a:r>
              <a:rPr sz="1500" b="0" i="0" u="none">
                <a:solidFill>
                  <a:srgbClr val="4A4A4A"/>
                </a:solidFill>
                <a:latin typeface="Inter"/>
              </a:rPr>
              <a:t> for executing actionable functions, </a:t>
            </a:r>
            <a:r>
              <a:rPr sz="1500" b="0" i="0" u="none">
                <a:solidFill>
                  <a:srgbClr val="2C241B"/>
                </a:solidFill>
                <a:latin typeface="Inter SemiBold"/>
              </a:rPr>
              <a:t>Resources</a:t>
            </a:r>
            <a:r>
              <a:rPr sz="1500" b="0" i="0" u="none">
                <a:solidFill>
                  <a:srgbClr val="4A4A4A"/>
                </a:solidFill>
                <a:latin typeface="Inter"/>
              </a:rPr>
              <a:t> for reading structured internal data, and </a:t>
            </a:r>
            <a:r>
              <a:rPr sz="1500" b="0" i="0" u="none">
                <a:solidFill>
                  <a:srgbClr val="2C241B"/>
                </a:solidFill>
                <a:latin typeface="Inter SemiBold"/>
              </a:rPr>
              <a:t>Prompts</a:t>
            </a:r>
            <a:r>
              <a:rPr sz="1500" b="0" i="0" u="none">
                <a:solidFill>
                  <a:srgbClr val="4A4A4A"/>
                </a:solidFill>
                <a:latin typeface="Inter"/>
              </a:rPr>
              <a:t> for reusable interaction templates.</a:t>
            </a:r>
          </a:p>
        </p:txBody>
      </p:sp>
      <p:sp>
        <p:nvSpPr>
          <p:cNvPr id="17" name="TextBox 16"/>
          <p:cNvSpPr txBox="1"/>
          <p:nvPr/>
        </p:nvSpPr>
        <p:spPr>
          <a:xfrm>
            <a:off x="571500" y="4824412"/>
            <a:ext cx="5500687" cy="295275"/>
          </a:xfrm>
          <a:prstGeom prst="rect">
            <a:avLst/>
          </a:prstGeom>
          <a:noFill/>
        </p:spPr>
        <p:txBody>
          <a:bodyPr wrap="square" lIns="0" tIns="0" rIns="0" bIns="0" anchor="t">
            <a:spAutoFit/>
          </a:bodyPr>
          <a:lstStyle/>
          <a:p>
            <a:pPr algn="l"/>
            <a:r>
              <a:rPr sz="1950" b="0" i="0" u="none">
                <a:solidFill>
                  <a:srgbClr val="8B5A2B"/>
                </a:solidFill>
                <a:latin typeface="Inter SemiBold"/>
              </a:rPr>
              <a:t>Connecting to External Systems</a:t>
            </a:r>
          </a:p>
        </p:txBody>
      </p:sp>
      <p:sp>
        <p:nvSpPr>
          <p:cNvPr id="18" name="TextBox 17"/>
          <p:cNvSpPr txBox="1"/>
          <p:nvPr/>
        </p:nvSpPr>
        <p:spPr>
          <a:xfrm>
            <a:off x="571500" y="5200650"/>
            <a:ext cx="5238750" cy="1143000"/>
          </a:xfrm>
          <a:prstGeom prst="rect">
            <a:avLst/>
          </a:prstGeom>
          <a:noFill/>
        </p:spPr>
        <p:txBody>
          <a:bodyPr wrap="square" lIns="0" tIns="0" rIns="0" bIns="0" anchor="t">
            <a:spAutoFit/>
          </a:bodyPr>
          <a:lstStyle/>
          <a:p>
            <a:pPr algn="l">
              <a:lnSpc>
                <a:spcPts val="2250"/>
              </a:lnSpc>
            </a:pPr>
            <a:r>
              <a:rPr sz="1500" b="0" i="0" u="none" dirty="0">
                <a:solidFill>
                  <a:srgbClr val="4A4A4A"/>
                </a:solidFill>
                <a:latin typeface="Inter"/>
              </a:rPr>
              <a:t>MCP provides a universal bridge, allowing AI agents to seamlessly interact with local file systems, enterprise databases, and third-party SaaS platforms without requiring custom, hardcoded API integrations.</a:t>
            </a:r>
          </a:p>
        </p:txBody>
      </p:sp>
      <p:sp>
        <p:nvSpPr>
          <p:cNvPr id="19" name="TextBox 18"/>
          <p:cNvSpPr txBox="1"/>
          <p:nvPr/>
        </p:nvSpPr>
        <p:spPr>
          <a:xfrm>
            <a:off x="6838950" y="3843337"/>
            <a:ext cx="4324350" cy="161925"/>
          </a:xfrm>
          <a:prstGeom prst="rect">
            <a:avLst/>
          </a:prstGeom>
          <a:noFill/>
        </p:spPr>
        <p:txBody>
          <a:bodyPr wrap="square" lIns="0" tIns="0" rIns="0" bIns="0" anchor="t">
            <a:spAutoFit/>
          </a:bodyPr>
          <a:lstStyle/>
          <a:p>
            <a:pPr algn="ctr"/>
            <a:r>
              <a:rPr sz="1050" b="0" i="0" u="none">
                <a:solidFill>
                  <a:srgbClr val="8B5A2B"/>
                </a:solidFill>
                <a:latin typeface="Inter SemiBold"/>
              </a:rPr>
              <a:t>MCP SERVER</a:t>
            </a:r>
          </a:p>
        </p:txBody>
      </p:sp>
      <p:sp>
        <p:nvSpPr>
          <p:cNvPr id="20" name="TextBox 19"/>
          <p:cNvSpPr txBox="1"/>
          <p:nvPr/>
        </p:nvSpPr>
        <p:spPr>
          <a:xfrm>
            <a:off x="7577137" y="3214687"/>
            <a:ext cx="2847975" cy="276225"/>
          </a:xfrm>
          <a:prstGeom prst="rect">
            <a:avLst/>
          </a:prstGeom>
          <a:noFill/>
        </p:spPr>
        <p:txBody>
          <a:bodyPr wrap="square" lIns="0" tIns="0" rIns="0" bIns="0" anchor="ctr">
            <a:spAutoFit/>
          </a:bodyPr>
          <a:lstStyle/>
          <a:p>
            <a:pPr algn="ctr"/>
            <a:r>
              <a:rPr sz="1800" b="1" i="0" u="none">
                <a:solidFill>
                  <a:srgbClr val="8B5A2B"/>
                </a:solidFill>
                <a:latin typeface="Inter"/>
              </a:rPr>
              <a:t>↕ Standardized Protocol ↕</a:t>
            </a:r>
          </a:p>
        </p:txBody>
      </p:sp>
      <p:sp>
        <p:nvSpPr>
          <p:cNvPr id="21" name="TextBox 20"/>
          <p:cNvSpPr txBox="1"/>
          <p:nvPr/>
        </p:nvSpPr>
        <p:spPr>
          <a:xfrm>
            <a:off x="8943975" y="4843462"/>
            <a:ext cx="114300" cy="276225"/>
          </a:xfrm>
          <a:prstGeom prst="rect">
            <a:avLst/>
          </a:prstGeom>
          <a:noFill/>
        </p:spPr>
        <p:txBody>
          <a:bodyPr wrap="square" lIns="0" tIns="0" rIns="0" bIns="0" anchor="ctr">
            <a:spAutoFit/>
          </a:bodyPr>
          <a:lstStyle/>
          <a:p>
            <a:pPr algn="ctr"/>
            <a:r>
              <a:rPr sz="1800" b="1" i="0" u="none">
                <a:solidFill>
                  <a:srgbClr val="8B5A2B"/>
                </a:solidFill>
                <a:latin typeface="Inter"/>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52400"/>
          </a:xfrm>
          <a:prstGeom prst="rect">
            <a:avLst/>
          </a:prstGeom>
          <a:solidFill>
            <a:srgbClr val="4A3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230766" y="2700337"/>
            <a:ext cx="3730466" cy="828675"/>
          </a:xfrm>
          <a:prstGeom prst="rect">
            <a:avLst/>
          </a:prstGeom>
          <a:noFill/>
        </p:spPr>
        <p:txBody>
          <a:bodyPr wrap="square" lIns="0" tIns="0" rIns="0" bIns="0" anchor="t">
            <a:spAutoFit/>
          </a:bodyPr>
          <a:lstStyle/>
          <a:p>
            <a:pPr algn="ctr"/>
            <a:r>
              <a:rPr sz="5400" b="1" i="0" u="none">
                <a:solidFill>
                  <a:srgbClr val="2C241B"/>
                </a:solidFill>
                <a:latin typeface="Inter"/>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23</TotalTime>
  <Words>1927</Words>
  <Application>Microsoft Office PowerPoint</Application>
  <PresentationFormat>Widescreen</PresentationFormat>
  <Paragraphs>153</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Inter</vt:lpstr>
      <vt:lpstr>Inter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Eniyan Ravi</cp:lastModifiedBy>
  <cp:revision>9</cp:revision>
  <dcterms:created xsi:type="dcterms:W3CDTF">2013-01-27T09:14:16Z</dcterms:created>
  <dcterms:modified xsi:type="dcterms:W3CDTF">2026-09-09T17:49:08Z</dcterms:modified>
  <cp:category/>
</cp:coreProperties>
</file>