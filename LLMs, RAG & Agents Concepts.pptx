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1A0B6B2-48D1-4B51-9C9D-E8F7DDE2FB5C}"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AB711DC-727C-464A-BEFB-3F7378922298}"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6C4BCE5-08ED-4EEC-9054-7CA751A54966}"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2E214BA-ABC8-4BFE-85E4-34B555458DAF}"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a:t>
            </a:r>
            <a:r>
              <a:rPr lang="en-US" sz="4000" b="1" u="none" strike="noStrike" cap="all">
                <a:solidFill>
                  <a:schemeClr val="dk1"/>
                </a:solidFill>
                <a:effectLst/>
                <a:uFillTx/>
                <a:latin typeface="Calibri"/>
              </a:rPr>
              <a:t>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6400A0B-DE47-4F5D-A194-F3BD12CB5E69}"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7CD464B-57E4-4672-B12F-E259CCD49CFA}"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ECF4632-2B6D-4E49-B75A-234E97F93E1D}"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9ACBD34-3DFC-4451-A8E3-2C9F4DB05621}"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454EDFC-25B8-4CB6-9390-46AABEFF544B}"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588F58A-8578-4C42-8DCB-2916DEC735C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B7A41C8-F0AD-40A0-9CD5-6D89BFB45FE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C241B"/>
        </a:solidFill>
      </p:bgPr>
    </p:bg>
    <p:spTree>
      <p:nvGrpSpPr>
        <p:cNvPr id="1" name=""/>
        <p:cNvGrpSpPr/>
        <p:nvPr/>
      </p:nvGrpSpPr>
      <p:grpSpPr>
        <a:xfrm>
          <a:off x="0" y="0"/>
          <a:ext cx="0" cy="0"/>
          <a:chOff x="0" y="0"/>
          <a:chExt cx="0" cy="0"/>
        </a:xfrm>
      </p:grpSpPr>
      <p:sp>
        <p:nvSpPr>
          <p:cNvPr id="61" name="TextBox 1"/>
          <p:cNvSpPr/>
          <p:nvPr/>
        </p:nvSpPr>
        <p:spPr>
          <a:xfrm>
            <a:off x="285120" y="2362320"/>
            <a:ext cx="11621160" cy="7383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IN" sz="4800" b="1" u="none" strike="noStrike">
                <a:solidFill>
                  <a:srgbClr val="F5EFEB"/>
                </a:solidFill>
                <a:effectLst/>
                <a:uFillTx/>
                <a:latin typeface="Inter"/>
              </a:rPr>
              <a:t>LLMs, RAG &amp; Agents Concepts</a:t>
            </a:r>
            <a:endParaRPr lang="en-US" sz="4800" b="0" u="none" strike="noStrike">
              <a:solidFill>
                <a:srgbClr val="FFFFFF"/>
              </a:solidFill>
              <a:effectLst/>
              <a:uFillTx/>
              <a:latin typeface="Arial"/>
            </a:endParaRPr>
          </a:p>
        </p:txBody>
      </p:sp>
      <p:sp>
        <p:nvSpPr>
          <p:cNvPr id="62" name="TextBox 3"/>
          <p:cNvSpPr/>
          <p:nvPr/>
        </p:nvSpPr>
        <p:spPr>
          <a:xfrm>
            <a:off x="6532560" y="3499200"/>
            <a:ext cx="4406400" cy="36900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IN" sz="2400" b="1" u="none" strike="noStrike">
                <a:solidFill>
                  <a:schemeClr val="accent6">
                    <a:lumMod val="60000"/>
                    <a:lumOff val="40000"/>
                  </a:schemeClr>
                </a:solidFill>
                <a:effectLst/>
                <a:uFillTx/>
                <a:latin typeface="Inter"/>
              </a:rPr>
              <a:t>Eniyavasanthan R</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3" name="Picture 1" descr="image.png"/>
          <p:cNvPicPr/>
          <p:nvPr/>
        </p:nvPicPr>
        <p:blipFill>
          <a:blip r:embed="rId1"/>
          <a:stretch/>
        </p:blipFill>
        <p:spPr>
          <a:xfrm>
            <a:off x="6486480" y="1268280"/>
            <a:ext cx="5238360" cy="5400360"/>
          </a:xfrm>
          <a:prstGeom prst="rect">
            <a:avLst/>
          </a:prstGeom>
          <a:noFill/>
          <a:ln w="0">
            <a:noFill/>
          </a:ln>
        </p:spPr>
      </p:pic>
      <p:pic>
        <p:nvPicPr>
          <p:cNvPr id="64" name="Picture 2" descr="image.png"/>
          <p:cNvPicPr/>
          <p:nvPr/>
        </p:nvPicPr>
        <p:blipFill>
          <a:blip r:embed="rId2"/>
          <a:stretch/>
        </p:blipFill>
        <p:spPr>
          <a:xfrm>
            <a:off x="7763040" y="3195720"/>
            <a:ext cx="2476080" cy="1218960"/>
          </a:xfrm>
          <a:prstGeom prst="rect">
            <a:avLst/>
          </a:prstGeom>
          <a:noFill/>
          <a:ln w="0">
            <a:noFill/>
          </a:ln>
        </p:spPr>
      </p:pic>
      <p:pic>
        <p:nvPicPr>
          <p:cNvPr id="65" name="Picture 3" descr="image.png"/>
          <p:cNvPicPr/>
          <p:nvPr/>
        </p:nvPicPr>
        <p:blipFill>
          <a:blip r:embed="rId3"/>
          <a:stretch/>
        </p:blipFill>
        <p:spPr>
          <a:xfrm>
            <a:off x="8139240" y="2090880"/>
            <a:ext cx="1723680" cy="542520"/>
          </a:xfrm>
          <a:prstGeom prst="rect">
            <a:avLst/>
          </a:prstGeom>
          <a:noFill/>
          <a:ln w="0">
            <a:noFill/>
          </a:ln>
        </p:spPr>
      </p:pic>
      <p:pic>
        <p:nvPicPr>
          <p:cNvPr id="66" name="Picture 4" descr="image.png"/>
          <p:cNvPicPr/>
          <p:nvPr/>
        </p:nvPicPr>
        <p:blipFill>
          <a:blip r:embed="rId4"/>
          <a:stretch/>
        </p:blipFill>
        <p:spPr>
          <a:xfrm>
            <a:off x="7800840" y="4976640"/>
            <a:ext cx="2400120" cy="542520"/>
          </a:xfrm>
          <a:prstGeom prst="rect">
            <a:avLst/>
          </a:prstGeom>
          <a:noFill/>
          <a:ln w="0">
            <a:noFill/>
          </a:ln>
        </p:spPr>
      </p:pic>
      <p:pic>
        <p:nvPicPr>
          <p:cNvPr id="67" name="Picture 5" descr="image.png"/>
          <p:cNvPicPr/>
          <p:nvPr/>
        </p:nvPicPr>
        <p:blipFill>
          <a:blip r:embed="rId5"/>
          <a:stretch/>
        </p:blipFill>
        <p:spPr>
          <a:xfrm>
            <a:off x="8191440" y="5986440"/>
            <a:ext cx="1618920" cy="542520"/>
          </a:xfrm>
          <a:prstGeom prst="rect">
            <a:avLst/>
          </a:prstGeom>
          <a:noFill/>
          <a:ln w="0">
            <a:noFill/>
          </a:ln>
        </p:spPr>
      </p:pic>
      <p:pic>
        <p:nvPicPr>
          <p:cNvPr id="68" name="Picture 6" descr="image.png"/>
          <p:cNvPicPr/>
          <p:nvPr/>
        </p:nvPicPr>
        <p:blipFill>
          <a:blip r:embed="rId6"/>
          <a:stretch/>
        </p:blipFill>
        <p:spPr>
          <a:xfrm>
            <a:off x="7972560" y="3662280"/>
            <a:ext cx="2057040" cy="542520"/>
          </a:xfrm>
          <a:prstGeom prst="rect">
            <a:avLst/>
          </a:prstGeom>
          <a:noFill/>
          <a:ln w="0">
            <a:noFill/>
          </a:ln>
        </p:spPr>
      </p:pic>
      <p:sp>
        <p:nvSpPr>
          <p:cNvPr id="69" name="Rectangle 7"/>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 name="TextBox 8"/>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01</a:t>
            </a:r>
            <a:endParaRPr lang="en-US" sz="1200" b="0" u="none" strike="noStrike">
              <a:solidFill>
                <a:srgbClr val="000000"/>
              </a:solidFill>
              <a:effectLst/>
              <a:uFillTx/>
              <a:latin typeface="Arial"/>
            </a:endParaRPr>
          </a:p>
        </p:txBody>
      </p:sp>
      <p:sp>
        <p:nvSpPr>
          <p:cNvPr id="71" name="Rectangle 9"/>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72" name="TextBox 10"/>
          <p:cNvSpPr/>
          <p:nvPr/>
        </p:nvSpPr>
        <p:spPr>
          <a:xfrm>
            <a:off x="571680" y="533520"/>
            <a:ext cx="580032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1. LLM Fundamentals (Part 1)</a:t>
            </a:r>
            <a:endParaRPr lang="en-US" sz="3150" b="0" u="none" strike="noStrike">
              <a:solidFill>
                <a:srgbClr val="000000"/>
              </a:solidFill>
              <a:effectLst/>
              <a:uFillTx/>
              <a:latin typeface="Arial"/>
            </a:endParaRPr>
          </a:p>
        </p:txBody>
      </p:sp>
      <p:sp>
        <p:nvSpPr>
          <p:cNvPr id="73" name="TextBox 11"/>
          <p:cNvSpPr/>
          <p:nvPr/>
        </p:nvSpPr>
        <p:spPr>
          <a:xfrm>
            <a:off x="571680" y="16095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Tokens</a:t>
            </a:r>
            <a:endParaRPr lang="en-US" sz="1950" b="0" u="none" strike="noStrike">
              <a:solidFill>
                <a:srgbClr val="000000"/>
              </a:solidFill>
              <a:effectLst/>
              <a:uFillTx/>
              <a:latin typeface="Arial"/>
            </a:endParaRPr>
          </a:p>
        </p:txBody>
      </p:sp>
      <p:sp>
        <p:nvSpPr>
          <p:cNvPr id="74" name="TextBox 12"/>
          <p:cNvSpPr/>
          <p:nvPr/>
        </p:nvSpPr>
        <p:spPr>
          <a:xfrm>
            <a:off x="571680" y="198108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fundamental units of text (words, sub-words, or characters) processed by an LLM. Understanding tokens is critical because they directly dictate model pricing, processing speed, and context limits.</a:t>
            </a:r>
            <a:endParaRPr lang="en-US" sz="1500" b="0" u="none" strike="noStrike">
              <a:solidFill>
                <a:srgbClr val="000000"/>
              </a:solidFill>
              <a:effectLst/>
              <a:uFillTx/>
              <a:latin typeface="Arial"/>
            </a:endParaRPr>
          </a:p>
        </p:txBody>
      </p:sp>
      <p:sp>
        <p:nvSpPr>
          <p:cNvPr id="75" name="TextBox 13"/>
          <p:cNvSpPr/>
          <p:nvPr/>
        </p:nvSpPr>
        <p:spPr>
          <a:xfrm>
            <a:off x="571320" y="325764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Context Window</a:t>
            </a:r>
            <a:endParaRPr lang="en-US" sz="1950" b="0" u="none" strike="noStrike">
              <a:solidFill>
                <a:srgbClr val="000000"/>
              </a:solidFill>
              <a:effectLst/>
              <a:uFillTx/>
              <a:latin typeface="Arial"/>
            </a:endParaRPr>
          </a:p>
        </p:txBody>
      </p:sp>
      <p:sp>
        <p:nvSpPr>
          <p:cNvPr id="76" name="TextBox 14"/>
          <p:cNvSpPr/>
          <p:nvPr/>
        </p:nvSpPr>
        <p:spPr>
          <a:xfrm>
            <a:off x="571680" y="368604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maximum number of tokens a model can process in a single inference request. It acts as the model's short-term memory, restricting how much document text or conversation history can be analyzed at once.</a:t>
            </a:r>
            <a:endParaRPr lang="en-US" sz="1500" b="0" u="none" strike="noStrike">
              <a:solidFill>
                <a:srgbClr val="000000"/>
              </a:solidFill>
              <a:effectLst/>
              <a:uFillTx/>
              <a:latin typeface="Arial"/>
            </a:endParaRPr>
          </a:p>
        </p:txBody>
      </p:sp>
      <p:sp>
        <p:nvSpPr>
          <p:cNvPr id="77" name="TextBox 15"/>
          <p:cNvSpPr/>
          <p:nvPr/>
        </p:nvSpPr>
        <p:spPr>
          <a:xfrm>
            <a:off x="571680" y="510048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Temperature</a:t>
            </a:r>
            <a:endParaRPr lang="en-US" sz="1950" b="0" u="none" strike="noStrike">
              <a:solidFill>
                <a:srgbClr val="000000"/>
              </a:solidFill>
              <a:effectLst/>
              <a:uFillTx/>
              <a:latin typeface="Arial"/>
            </a:endParaRPr>
          </a:p>
        </p:txBody>
      </p:sp>
      <p:sp>
        <p:nvSpPr>
          <p:cNvPr id="78" name="TextBox 16"/>
          <p:cNvSpPr/>
          <p:nvPr/>
        </p:nvSpPr>
        <p:spPr>
          <a:xfrm>
            <a:off x="571320" y="551448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 parameter controlling the randomness of the model's output generation. A lower temperature (e.g., 0.1) ensures deterministic, factual responses, while a higher temperature encourages creative variation.</a:t>
            </a:r>
            <a:endParaRPr lang="en-US" sz="1500" b="0" u="none" strike="noStrike">
              <a:solidFill>
                <a:srgbClr val="000000"/>
              </a:solidFill>
              <a:effectLst/>
              <a:uFillTx/>
              <a:latin typeface="Arial"/>
            </a:endParaRPr>
          </a:p>
        </p:txBody>
      </p:sp>
      <p:sp>
        <p:nvSpPr>
          <p:cNvPr id="79" name="TextBox 17"/>
          <p:cNvSpPr/>
          <p:nvPr/>
        </p:nvSpPr>
        <p:spPr>
          <a:xfrm>
            <a:off x="7972560" y="3405240"/>
            <a:ext cx="2057040" cy="161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50" b="0" u="none" strike="noStrike">
                <a:solidFill>
                  <a:srgbClr val="8B5A2B"/>
                </a:solidFill>
                <a:effectLst/>
                <a:uFillTx/>
                <a:latin typeface="Inter SemiBold"/>
              </a:rPr>
              <a:t>TOKENIZER</a:t>
            </a:r>
            <a:endParaRPr lang="en-US" sz="1050" b="0" u="none" strike="noStrike">
              <a:solidFill>
                <a:srgbClr val="000000"/>
              </a:solidFill>
              <a:effectLst/>
              <a:uFillTx/>
              <a:latin typeface="Arial"/>
            </a:endParaRPr>
          </a:p>
        </p:txBody>
      </p:sp>
      <p:sp>
        <p:nvSpPr>
          <p:cNvPr id="80" name="TextBox 18"/>
          <p:cNvSpPr/>
          <p:nvPr/>
        </p:nvSpPr>
        <p:spPr>
          <a:xfrm>
            <a:off x="8896320" y="2728800"/>
            <a:ext cx="20916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
        <p:nvSpPr>
          <p:cNvPr id="81" name="TextBox 19"/>
          <p:cNvSpPr/>
          <p:nvPr/>
        </p:nvSpPr>
        <p:spPr>
          <a:xfrm>
            <a:off x="8896320" y="4605480"/>
            <a:ext cx="20916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
        <p:nvSpPr>
          <p:cNvPr id="82" name="TextBox 20"/>
          <p:cNvSpPr/>
          <p:nvPr/>
        </p:nvSpPr>
        <p:spPr>
          <a:xfrm>
            <a:off x="8896320" y="5614920"/>
            <a:ext cx="20916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TextBox 2"/>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02</a:t>
            </a:r>
            <a:endParaRPr lang="en-US" sz="1200" b="0" u="none" strike="noStrike">
              <a:solidFill>
                <a:srgbClr val="000000"/>
              </a:solidFill>
              <a:effectLst/>
              <a:uFillTx/>
              <a:latin typeface="Arial"/>
            </a:endParaRPr>
          </a:p>
        </p:txBody>
      </p:sp>
      <p:sp>
        <p:nvSpPr>
          <p:cNvPr id="85" name="Rectangle 3"/>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86" name="TextBox 4"/>
          <p:cNvSpPr/>
          <p:nvPr/>
        </p:nvSpPr>
        <p:spPr>
          <a:xfrm>
            <a:off x="571680" y="533520"/>
            <a:ext cx="588024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1. LLM Fundamentals (Part 2)</a:t>
            </a:r>
            <a:endParaRPr lang="en-US" sz="3150" b="0" u="none" strike="noStrike">
              <a:solidFill>
                <a:srgbClr val="000000"/>
              </a:solidFill>
              <a:effectLst/>
              <a:uFillTx/>
              <a:latin typeface="Arial"/>
            </a:endParaRPr>
          </a:p>
        </p:txBody>
      </p:sp>
      <p:sp>
        <p:nvSpPr>
          <p:cNvPr id="87" name="TextBox 5"/>
          <p:cNvSpPr/>
          <p:nvPr/>
        </p:nvSpPr>
        <p:spPr>
          <a:xfrm>
            <a:off x="571680" y="16095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Model Capabilities</a:t>
            </a:r>
            <a:endParaRPr lang="en-US" sz="1950" b="0" u="none" strike="noStrike">
              <a:solidFill>
                <a:srgbClr val="000000"/>
              </a:solidFill>
              <a:effectLst/>
              <a:uFillTx/>
              <a:latin typeface="Arial"/>
            </a:endParaRPr>
          </a:p>
        </p:txBody>
      </p:sp>
      <p:sp>
        <p:nvSpPr>
          <p:cNvPr id="88" name="TextBox 6"/>
          <p:cNvSpPr/>
          <p:nvPr/>
        </p:nvSpPr>
        <p:spPr>
          <a:xfrm>
            <a:off x="571680" y="198108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specific task classes a model is trained to handle optimally, such as reasoning, coding, summarization, or translation. As a trainee, it is vital to understand that smaller, faster models should be used for simple parsing, while frontier models are required for complex reasoning tasks.</a:t>
            </a:r>
            <a:endParaRPr lang="en-US" sz="1500" b="0" u="none" strike="noStrike">
              <a:solidFill>
                <a:srgbClr val="000000"/>
              </a:solidFill>
              <a:effectLst/>
              <a:uFillTx/>
              <a:latin typeface="Arial"/>
            </a:endParaRPr>
          </a:p>
        </p:txBody>
      </p:sp>
      <p:sp>
        <p:nvSpPr>
          <p:cNvPr id="89" name="TextBox 7"/>
          <p:cNvSpPr/>
          <p:nvPr/>
        </p:nvSpPr>
        <p:spPr>
          <a:xfrm>
            <a:off x="571680" y="29811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Inference</a:t>
            </a:r>
            <a:endParaRPr lang="en-US" sz="1950" b="0" u="none" strike="noStrike">
              <a:solidFill>
                <a:srgbClr val="000000"/>
              </a:solidFill>
              <a:effectLst/>
              <a:uFillTx/>
              <a:latin typeface="Arial"/>
            </a:endParaRPr>
          </a:p>
        </p:txBody>
      </p:sp>
      <p:sp>
        <p:nvSpPr>
          <p:cNvPr id="90" name="TextBox 8"/>
          <p:cNvSpPr/>
          <p:nvPr/>
        </p:nvSpPr>
        <p:spPr>
          <a:xfrm>
            <a:off x="571680" y="3386160"/>
            <a:ext cx="11048760" cy="1134360"/>
          </a:xfrm>
          <a:prstGeom prst="rect">
            <a:avLst/>
          </a:prstGeom>
          <a:noFill/>
          <a:ln w="0">
            <a:noFill/>
          </a:ln>
        </p:spPr>
        <p:style>
          <a:lnRef idx="0"/>
          <a:fillRef idx="0"/>
          <a:effectRef idx="0"/>
          <a:fontRef idx="minor"/>
        </p:style>
        <p:txBody>
          <a:bodyPr lIns="0" tIns="0" rIns="0" bIns="0" anchor="t">
            <a:spAutoFit/>
          </a:bodyPr>
          <a:p>
            <a:pPr defTabSz="457200">
              <a:lnSpc>
                <a:spcPts val="2251"/>
              </a:lnSpc>
              <a:spcBef>
                <a:spcPts val="1191"/>
              </a:spcBef>
              <a:spcAft>
                <a:spcPts val="992"/>
              </a:spcAft>
            </a:pPr>
            <a:r>
              <a:rPr lang="en-US" sz="1500" b="0" u="none" strike="noStrike">
                <a:solidFill>
                  <a:srgbClr val="4A4A4A"/>
                </a:solidFill>
                <a:effectLst/>
                <a:uFillTx/>
                <a:latin typeface="Inter"/>
              </a:rPr>
              <a:t>The operational phase where a trained model generates text based on a provided prompt, without altering its underlying weights. Inference is the process of using a trained model to make a prediction on new, unseen input.</a:t>
            </a:r>
            <a:endParaRPr lang="en-US" sz="1500" b="0" u="none" strike="noStrike">
              <a:solidFill>
                <a:srgbClr val="000000"/>
              </a:solidFill>
              <a:effectLst/>
              <a:uFillTx/>
              <a:latin typeface="Arial"/>
            </a:endParaRPr>
          </a:p>
          <a:p>
            <a:pPr defTabSz="457200">
              <a:lnSpc>
                <a:spcPts val="2251"/>
              </a:lnSpc>
              <a:spcBef>
                <a:spcPts val="1191"/>
              </a:spcBef>
              <a:spcAft>
                <a:spcPts val="992"/>
              </a:spcAft>
            </a:pPr>
            <a:endParaRPr lang="en-US" sz="1500" b="0" u="none" strike="noStrike">
              <a:solidFill>
                <a:srgbClr val="000000"/>
              </a:solidFill>
              <a:effectLst/>
              <a:uFillTx/>
              <a:latin typeface="Arial"/>
            </a:endParaRPr>
          </a:p>
        </p:txBody>
      </p:sp>
      <p:sp>
        <p:nvSpPr>
          <p:cNvPr id="91" name="TextBox 9"/>
          <p:cNvSpPr/>
          <p:nvPr/>
        </p:nvSpPr>
        <p:spPr>
          <a:xfrm>
            <a:off x="571680" y="418644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Hallucination</a:t>
            </a:r>
            <a:endParaRPr lang="en-US" sz="1950" b="0" u="none" strike="noStrike">
              <a:solidFill>
                <a:srgbClr val="000000"/>
              </a:solidFill>
              <a:effectLst/>
              <a:uFillTx/>
              <a:latin typeface="Arial"/>
            </a:endParaRPr>
          </a:p>
        </p:txBody>
      </p:sp>
      <p:sp>
        <p:nvSpPr>
          <p:cNvPr id="92" name="TextBox 10"/>
          <p:cNvSpPr/>
          <p:nvPr/>
        </p:nvSpPr>
        <p:spPr>
          <a:xfrm>
            <a:off x="571680" y="460188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Instances where the model generates factually incorrect, completely fabricated, or logically inconsistent information while maintaining a highly confident tone. This is a primary risk in enterprise deployments, necessitating strict grounding techniques and retrieval augmentation.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 name="TextBox 2"/>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03</a:t>
            </a:r>
            <a:endParaRPr lang="en-US" sz="1200" b="0" u="none" strike="noStrike">
              <a:solidFill>
                <a:srgbClr val="000000"/>
              </a:solidFill>
              <a:effectLst/>
              <a:uFillTx/>
              <a:latin typeface="Arial"/>
            </a:endParaRPr>
          </a:p>
        </p:txBody>
      </p:sp>
      <p:sp>
        <p:nvSpPr>
          <p:cNvPr id="95" name="Rectangle 3"/>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96" name="TextBox 4"/>
          <p:cNvSpPr/>
          <p:nvPr/>
        </p:nvSpPr>
        <p:spPr>
          <a:xfrm>
            <a:off x="571680" y="533520"/>
            <a:ext cx="607032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2. Prompt Engineering (Part 1)</a:t>
            </a:r>
            <a:endParaRPr lang="en-US" sz="3150" b="0" u="none" strike="noStrike">
              <a:solidFill>
                <a:srgbClr val="000000"/>
              </a:solidFill>
              <a:effectLst/>
              <a:uFillTx/>
              <a:latin typeface="Arial"/>
            </a:endParaRPr>
          </a:p>
        </p:txBody>
      </p:sp>
      <p:sp>
        <p:nvSpPr>
          <p:cNvPr id="97" name="TextBox 5"/>
          <p:cNvSpPr/>
          <p:nvPr/>
        </p:nvSpPr>
        <p:spPr>
          <a:xfrm>
            <a:off x="571680" y="16095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System Prompts</a:t>
            </a:r>
            <a:endParaRPr lang="en-US" sz="1950" b="0" u="none" strike="noStrike">
              <a:solidFill>
                <a:srgbClr val="000000"/>
              </a:solidFill>
              <a:effectLst/>
              <a:uFillTx/>
              <a:latin typeface="Arial"/>
            </a:endParaRPr>
          </a:p>
        </p:txBody>
      </p:sp>
      <p:sp>
        <p:nvSpPr>
          <p:cNvPr id="98" name="TextBox 6"/>
          <p:cNvSpPr/>
          <p:nvPr/>
        </p:nvSpPr>
        <p:spPr>
          <a:xfrm>
            <a:off x="571680" y="1981080"/>
            <a:ext cx="11048760" cy="57132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High-level instructions that define the AI's operational boundaries, and overarching rules. The system prompt acts as the primary constraint layer and security guardrail before any dynamic user interaction occurs.</a:t>
            </a:r>
            <a:r>
              <a:rPr lang="en-IN" sz="1500" b="0" u="none" strike="noStrike">
                <a:solidFill>
                  <a:srgbClr val="4A4A4A"/>
                </a:solidFill>
                <a:effectLst/>
                <a:uFillTx/>
                <a:latin typeface="Inter"/>
              </a:rPr>
              <a:t> Usually given by the developer.</a:t>
            </a:r>
            <a:endParaRPr lang="en-US" sz="1500" b="0" u="none" strike="noStrike">
              <a:solidFill>
                <a:srgbClr val="000000"/>
              </a:solidFill>
              <a:effectLst/>
              <a:uFillTx/>
              <a:latin typeface="Arial"/>
            </a:endParaRPr>
          </a:p>
        </p:txBody>
      </p:sp>
      <p:sp>
        <p:nvSpPr>
          <p:cNvPr id="99" name="TextBox 7"/>
          <p:cNvSpPr/>
          <p:nvPr/>
        </p:nvSpPr>
        <p:spPr>
          <a:xfrm>
            <a:off x="571680" y="29811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User Prompts</a:t>
            </a:r>
            <a:endParaRPr lang="en-US" sz="1950" b="0" u="none" strike="noStrike">
              <a:solidFill>
                <a:srgbClr val="000000"/>
              </a:solidFill>
              <a:effectLst/>
              <a:uFillTx/>
              <a:latin typeface="Arial"/>
            </a:endParaRPr>
          </a:p>
        </p:txBody>
      </p:sp>
      <p:sp>
        <p:nvSpPr>
          <p:cNvPr id="100" name="TextBox 8"/>
          <p:cNvSpPr/>
          <p:nvPr/>
        </p:nvSpPr>
        <p:spPr>
          <a:xfrm>
            <a:off x="571680" y="3352680"/>
            <a:ext cx="11048760" cy="57132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specific queries, tasks, or inputs provided dynamically by the end-user or application logic. Effective user prompts must be clear, contextual, and direct the model toward the immediate goal without contradicting system instructions.</a:t>
            </a:r>
            <a:endParaRPr lang="en-US" sz="1500" b="0" u="none" strike="noStrike">
              <a:solidFill>
                <a:srgbClr val="000000"/>
              </a:solidFill>
              <a:effectLst/>
              <a:uFillTx/>
              <a:latin typeface="Arial"/>
            </a:endParaRPr>
          </a:p>
        </p:txBody>
      </p:sp>
      <p:sp>
        <p:nvSpPr>
          <p:cNvPr id="101" name="TextBox 9"/>
          <p:cNvSpPr/>
          <p:nvPr/>
        </p:nvSpPr>
        <p:spPr>
          <a:xfrm>
            <a:off x="571680" y="43527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Few-Shot Prompting</a:t>
            </a:r>
            <a:endParaRPr lang="en-US" sz="1950" b="0" u="none" strike="noStrike">
              <a:solidFill>
                <a:srgbClr val="000000"/>
              </a:solidFill>
              <a:effectLst/>
              <a:uFillTx/>
              <a:latin typeface="Arial"/>
            </a:endParaRPr>
          </a:p>
        </p:txBody>
      </p:sp>
      <p:sp>
        <p:nvSpPr>
          <p:cNvPr id="102" name="TextBox 10"/>
          <p:cNvSpPr/>
          <p:nvPr/>
        </p:nvSpPr>
        <p:spPr>
          <a:xfrm>
            <a:off x="571680" y="4724280"/>
            <a:ext cx="11048760" cy="57132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 technique involving providing a few concrete examples of desired input-output pairs within the prompt itself. This significantly improves the model's reliability in adhering to strict formatting and mimicking specific reasoning patterns.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3" name="Picture 1" descr="image.png"/>
          <p:cNvPicPr/>
          <p:nvPr/>
        </p:nvPicPr>
        <p:blipFill>
          <a:blip r:embed="rId1"/>
          <a:stretch/>
        </p:blipFill>
        <p:spPr>
          <a:xfrm>
            <a:off x="6381720" y="1314360"/>
            <a:ext cx="5238360" cy="5257440"/>
          </a:xfrm>
          <a:prstGeom prst="rect">
            <a:avLst/>
          </a:prstGeom>
          <a:noFill/>
          <a:ln w="0">
            <a:noFill/>
          </a:ln>
        </p:spPr>
      </p:pic>
      <p:pic>
        <p:nvPicPr>
          <p:cNvPr id="104" name="Picture 2" descr="image.png"/>
          <p:cNvPicPr/>
          <p:nvPr/>
        </p:nvPicPr>
        <p:blipFill>
          <a:blip r:embed="rId2"/>
          <a:stretch/>
        </p:blipFill>
        <p:spPr>
          <a:xfrm>
            <a:off x="7141680" y="2000160"/>
            <a:ext cx="3718080" cy="2457000"/>
          </a:xfrm>
          <a:prstGeom prst="rect">
            <a:avLst/>
          </a:prstGeom>
          <a:noFill/>
          <a:ln w="0">
            <a:noFill/>
          </a:ln>
        </p:spPr>
      </p:pic>
      <p:pic>
        <p:nvPicPr>
          <p:cNvPr id="105" name="Picture 3" descr="image.png"/>
          <p:cNvPicPr/>
          <p:nvPr/>
        </p:nvPicPr>
        <p:blipFill>
          <a:blip r:embed="rId3"/>
          <a:stretch/>
        </p:blipFill>
        <p:spPr>
          <a:xfrm>
            <a:off x="8086680" y="5019840"/>
            <a:ext cx="1828440" cy="542520"/>
          </a:xfrm>
          <a:prstGeom prst="rect">
            <a:avLst/>
          </a:prstGeom>
          <a:noFill/>
          <a:ln w="0">
            <a:noFill/>
          </a:ln>
        </p:spPr>
      </p:pic>
      <p:pic>
        <p:nvPicPr>
          <p:cNvPr id="106" name="Picture 4" descr="image.png"/>
          <p:cNvPicPr/>
          <p:nvPr/>
        </p:nvPicPr>
        <p:blipFill>
          <a:blip r:embed="rId4"/>
          <a:stretch/>
        </p:blipFill>
        <p:spPr>
          <a:xfrm>
            <a:off x="7586640" y="6029280"/>
            <a:ext cx="2828520" cy="542520"/>
          </a:xfrm>
          <a:prstGeom prst="rect">
            <a:avLst/>
          </a:prstGeom>
          <a:noFill/>
          <a:ln w="0">
            <a:noFill/>
          </a:ln>
        </p:spPr>
      </p:pic>
      <p:pic>
        <p:nvPicPr>
          <p:cNvPr id="107" name="Picture 5" descr="image.png"/>
          <p:cNvPicPr/>
          <p:nvPr/>
        </p:nvPicPr>
        <p:blipFill>
          <a:blip r:embed="rId5"/>
          <a:stretch/>
        </p:blipFill>
        <p:spPr>
          <a:xfrm>
            <a:off x="7351200" y="2467080"/>
            <a:ext cx="3299040" cy="542520"/>
          </a:xfrm>
          <a:prstGeom prst="rect">
            <a:avLst/>
          </a:prstGeom>
          <a:noFill/>
          <a:ln w="0">
            <a:noFill/>
          </a:ln>
        </p:spPr>
      </p:pic>
      <p:pic>
        <p:nvPicPr>
          <p:cNvPr id="108" name="Picture 6" descr="image.png"/>
          <p:cNvPicPr/>
          <p:nvPr/>
        </p:nvPicPr>
        <p:blipFill>
          <a:blip r:embed="rId6"/>
          <a:stretch/>
        </p:blipFill>
        <p:spPr>
          <a:xfrm>
            <a:off x="7351200" y="3086280"/>
            <a:ext cx="3299040" cy="542520"/>
          </a:xfrm>
          <a:prstGeom prst="rect">
            <a:avLst/>
          </a:prstGeom>
          <a:noFill/>
          <a:ln w="0">
            <a:noFill/>
          </a:ln>
        </p:spPr>
      </p:pic>
      <p:pic>
        <p:nvPicPr>
          <p:cNvPr id="109" name="Picture 7" descr="image.png"/>
          <p:cNvPicPr/>
          <p:nvPr/>
        </p:nvPicPr>
        <p:blipFill>
          <a:blip r:embed="rId7"/>
          <a:stretch/>
        </p:blipFill>
        <p:spPr>
          <a:xfrm>
            <a:off x="7351200" y="3705120"/>
            <a:ext cx="3299040" cy="542520"/>
          </a:xfrm>
          <a:prstGeom prst="rect">
            <a:avLst/>
          </a:prstGeom>
          <a:noFill/>
          <a:ln w="0">
            <a:noFill/>
          </a:ln>
        </p:spPr>
      </p:pic>
      <p:sp>
        <p:nvSpPr>
          <p:cNvPr id="110" name="Rectangle 8"/>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9"/>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04</a:t>
            </a:r>
            <a:endParaRPr lang="en-US" sz="1200" b="0" u="none" strike="noStrike">
              <a:solidFill>
                <a:srgbClr val="000000"/>
              </a:solidFill>
              <a:effectLst/>
              <a:uFillTx/>
              <a:latin typeface="Arial"/>
            </a:endParaRPr>
          </a:p>
        </p:txBody>
      </p:sp>
      <p:sp>
        <p:nvSpPr>
          <p:cNvPr id="112" name="Rectangle 10"/>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13" name="TextBox 11"/>
          <p:cNvSpPr/>
          <p:nvPr/>
        </p:nvSpPr>
        <p:spPr>
          <a:xfrm>
            <a:off x="571680" y="533520"/>
            <a:ext cx="615024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2. Prompt Engineering (Part 2)</a:t>
            </a:r>
            <a:endParaRPr lang="en-US" sz="3150" b="0" u="none" strike="noStrike">
              <a:solidFill>
                <a:srgbClr val="000000"/>
              </a:solidFill>
              <a:effectLst/>
              <a:uFillTx/>
              <a:latin typeface="Arial"/>
            </a:endParaRPr>
          </a:p>
        </p:txBody>
      </p:sp>
      <p:sp>
        <p:nvSpPr>
          <p:cNvPr id="114" name="TextBox 12"/>
          <p:cNvSpPr/>
          <p:nvPr/>
        </p:nvSpPr>
        <p:spPr>
          <a:xfrm>
            <a:off x="571680" y="16095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Structured Prompts</a:t>
            </a:r>
            <a:endParaRPr lang="en-US" sz="1950" b="0" u="none" strike="noStrike">
              <a:solidFill>
                <a:srgbClr val="000000"/>
              </a:solidFill>
              <a:effectLst/>
              <a:uFillTx/>
              <a:latin typeface="Arial"/>
            </a:endParaRPr>
          </a:p>
        </p:txBody>
      </p:sp>
      <p:sp>
        <p:nvSpPr>
          <p:cNvPr id="115" name="TextBox 13"/>
          <p:cNvSpPr/>
          <p:nvPr/>
        </p:nvSpPr>
        <p:spPr>
          <a:xfrm>
            <a:off x="571680" y="1981080"/>
            <a:ext cx="5238360" cy="142884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practice of organizing a prompt using clear section headers (e.g., [Context], [Task], [Rules]) to guide the LLM's attention. This structural clarity prevents the model from ignoring specific constraints within complex, lengthy requests.</a:t>
            </a:r>
            <a:endParaRPr lang="en-US" sz="1500" b="0" u="none" strike="noStrike">
              <a:solidFill>
                <a:srgbClr val="000000"/>
              </a:solidFill>
              <a:effectLst/>
              <a:uFillTx/>
              <a:latin typeface="Arial"/>
            </a:endParaRPr>
          </a:p>
        </p:txBody>
      </p:sp>
      <p:sp>
        <p:nvSpPr>
          <p:cNvPr id="116" name="TextBox 14"/>
          <p:cNvSpPr/>
          <p:nvPr/>
        </p:nvSpPr>
        <p:spPr>
          <a:xfrm>
            <a:off x="571680" y="374328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Output Constraints</a:t>
            </a:r>
            <a:endParaRPr lang="en-US" sz="1950" b="0" u="none" strike="noStrike">
              <a:solidFill>
                <a:srgbClr val="000000"/>
              </a:solidFill>
              <a:effectLst/>
              <a:uFillTx/>
              <a:latin typeface="Arial"/>
            </a:endParaRPr>
          </a:p>
        </p:txBody>
      </p:sp>
      <p:sp>
        <p:nvSpPr>
          <p:cNvPr id="117" name="TextBox 15"/>
          <p:cNvSpPr/>
          <p:nvPr/>
        </p:nvSpPr>
        <p:spPr>
          <a:xfrm>
            <a:off x="571680" y="4114800"/>
            <a:ext cx="5238360" cy="142884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Explicit instructions demanding a specific format, length limit, tone, or exclusion of pleasantries. Implementing strict constraints ensures predictability, which is crucial for downstream applications that rely on parsing the model's response programmatically.</a:t>
            </a:r>
            <a:endParaRPr lang="en-US" sz="1500" b="0" u="none" strike="noStrike">
              <a:solidFill>
                <a:srgbClr val="000000"/>
              </a:solidFill>
              <a:effectLst/>
              <a:uFillTx/>
              <a:latin typeface="Arial"/>
            </a:endParaRPr>
          </a:p>
        </p:txBody>
      </p:sp>
      <p:sp>
        <p:nvSpPr>
          <p:cNvPr id="118" name="TextBox 16"/>
          <p:cNvSpPr/>
          <p:nvPr/>
        </p:nvSpPr>
        <p:spPr>
          <a:xfrm>
            <a:off x="7351200" y="2209680"/>
            <a:ext cx="3299040" cy="161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50" b="0" u="none" strike="noStrike">
                <a:solidFill>
                  <a:srgbClr val="8B5A2B"/>
                </a:solidFill>
                <a:effectLst/>
                <a:uFillTx/>
                <a:latin typeface="Inter SemiBold"/>
              </a:rPr>
              <a:t>PROMPT STRUCTURE</a:t>
            </a:r>
            <a:endParaRPr lang="en-US" sz="1050" b="0" u="none" strike="noStrike">
              <a:solidFill>
                <a:srgbClr val="000000"/>
              </a:solidFill>
              <a:effectLst/>
              <a:uFillTx/>
              <a:latin typeface="Arial"/>
            </a:endParaRPr>
          </a:p>
        </p:txBody>
      </p:sp>
      <p:sp>
        <p:nvSpPr>
          <p:cNvPr id="119" name="TextBox 17"/>
          <p:cNvSpPr/>
          <p:nvPr/>
        </p:nvSpPr>
        <p:spPr>
          <a:xfrm>
            <a:off x="8896320" y="4648320"/>
            <a:ext cx="20916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
        <p:nvSpPr>
          <p:cNvPr id="120" name="TextBox 18"/>
          <p:cNvSpPr/>
          <p:nvPr/>
        </p:nvSpPr>
        <p:spPr>
          <a:xfrm>
            <a:off x="8896320" y="5657760"/>
            <a:ext cx="20916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2" name="TextBox 2"/>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05</a:t>
            </a:r>
            <a:endParaRPr lang="en-US" sz="1200" b="0" u="none" strike="noStrike">
              <a:solidFill>
                <a:srgbClr val="000000"/>
              </a:solidFill>
              <a:effectLst/>
              <a:uFillTx/>
              <a:latin typeface="Arial"/>
            </a:endParaRPr>
          </a:p>
        </p:txBody>
      </p:sp>
      <p:sp>
        <p:nvSpPr>
          <p:cNvPr id="123" name="Rectangle 3"/>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24" name="TextBox 4"/>
          <p:cNvSpPr/>
          <p:nvPr/>
        </p:nvSpPr>
        <p:spPr>
          <a:xfrm>
            <a:off x="571680" y="533520"/>
            <a:ext cx="418032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3. Structured Output</a:t>
            </a:r>
            <a:endParaRPr lang="en-US" sz="3150" b="0" u="none" strike="noStrike">
              <a:solidFill>
                <a:srgbClr val="000000"/>
              </a:solidFill>
              <a:effectLst/>
              <a:uFillTx/>
              <a:latin typeface="Arial"/>
            </a:endParaRPr>
          </a:p>
        </p:txBody>
      </p:sp>
      <p:sp>
        <p:nvSpPr>
          <p:cNvPr id="125" name="TextBox 5"/>
          <p:cNvSpPr/>
          <p:nvPr/>
        </p:nvSpPr>
        <p:spPr>
          <a:xfrm>
            <a:off x="571680" y="16095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JSON Outputs</a:t>
            </a:r>
            <a:endParaRPr lang="en-US" sz="1950" b="0" u="none" strike="noStrike">
              <a:solidFill>
                <a:srgbClr val="000000"/>
              </a:solidFill>
              <a:effectLst/>
              <a:uFillTx/>
              <a:latin typeface="Arial"/>
            </a:endParaRPr>
          </a:p>
        </p:txBody>
      </p:sp>
      <p:sp>
        <p:nvSpPr>
          <p:cNvPr id="126" name="TextBox 6"/>
          <p:cNvSpPr/>
          <p:nvPr/>
        </p:nvSpPr>
        <p:spPr>
          <a:xfrm>
            <a:off x="571680" y="198108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Forcing the LLM to return its response strictly in valid JSON format rather than conversational plain text. This is a non-negotiable requirement when building automated pipelines where traditional application code needs to parse, extract, and act upon the AI's generated data.</a:t>
            </a:r>
            <a:endParaRPr lang="en-US" sz="1500" b="0" u="none" strike="noStrike">
              <a:solidFill>
                <a:srgbClr val="000000"/>
              </a:solidFill>
              <a:effectLst/>
              <a:uFillTx/>
              <a:latin typeface="Arial"/>
            </a:endParaRPr>
          </a:p>
        </p:txBody>
      </p:sp>
      <p:sp>
        <p:nvSpPr>
          <p:cNvPr id="127" name="TextBox 7"/>
          <p:cNvSpPr/>
          <p:nvPr/>
        </p:nvSpPr>
        <p:spPr>
          <a:xfrm>
            <a:off x="571680" y="326700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Schemas</a:t>
            </a:r>
            <a:endParaRPr lang="en-US" sz="1950" b="0" u="none" strike="noStrike">
              <a:solidFill>
                <a:srgbClr val="000000"/>
              </a:solidFill>
              <a:effectLst/>
              <a:uFillTx/>
              <a:latin typeface="Arial"/>
            </a:endParaRPr>
          </a:p>
        </p:txBody>
      </p:sp>
      <p:sp>
        <p:nvSpPr>
          <p:cNvPr id="128" name="TextBox 8"/>
          <p:cNvSpPr/>
          <p:nvPr/>
        </p:nvSpPr>
        <p:spPr>
          <a:xfrm>
            <a:off x="571680" y="363852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Defining the exact data structure, specific keys, nested objects, and data types (string, int, boolean) the model must strictly follow. By providing a JSON schema in the prompt or API call, developers establish a rigid programmatic contract, ensuring the LLM output acts as a reliable data object for the software system.</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9" name="Picture 1" descr="image.png"/>
          <p:cNvPicPr/>
          <p:nvPr/>
        </p:nvPicPr>
        <p:blipFill>
          <a:blip r:embed="rId1"/>
          <a:stretch/>
        </p:blipFill>
        <p:spPr>
          <a:xfrm>
            <a:off x="6381720" y="1314360"/>
            <a:ext cx="5238360" cy="5028840"/>
          </a:xfrm>
          <a:prstGeom prst="rect">
            <a:avLst/>
          </a:prstGeom>
          <a:noFill/>
          <a:ln w="0">
            <a:noFill/>
          </a:ln>
        </p:spPr>
      </p:pic>
      <p:pic>
        <p:nvPicPr>
          <p:cNvPr id="130" name="Picture 2" descr="image.png"/>
          <p:cNvPicPr/>
          <p:nvPr/>
        </p:nvPicPr>
        <p:blipFill>
          <a:blip r:embed="rId2"/>
          <a:stretch/>
        </p:blipFill>
        <p:spPr>
          <a:xfrm>
            <a:off x="6676920" y="3009960"/>
            <a:ext cx="4647960" cy="2228400"/>
          </a:xfrm>
          <a:prstGeom prst="rect">
            <a:avLst/>
          </a:prstGeom>
          <a:noFill/>
          <a:ln w="0">
            <a:noFill/>
          </a:ln>
        </p:spPr>
      </p:pic>
      <p:pic>
        <p:nvPicPr>
          <p:cNvPr id="131" name="Picture 3" descr="image.png"/>
          <p:cNvPicPr/>
          <p:nvPr/>
        </p:nvPicPr>
        <p:blipFill>
          <a:blip r:embed="rId3"/>
          <a:stretch/>
        </p:blipFill>
        <p:spPr>
          <a:xfrm>
            <a:off x="8577360" y="1905120"/>
            <a:ext cx="847440" cy="542520"/>
          </a:xfrm>
          <a:prstGeom prst="rect">
            <a:avLst/>
          </a:prstGeom>
          <a:noFill/>
          <a:ln w="0">
            <a:noFill/>
          </a:ln>
        </p:spPr>
      </p:pic>
      <p:pic>
        <p:nvPicPr>
          <p:cNvPr id="132" name="Picture 4" descr="image.png"/>
          <p:cNvPicPr/>
          <p:nvPr/>
        </p:nvPicPr>
        <p:blipFill>
          <a:blip r:embed="rId4"/>
          <a:stretch/>
        </p:blipFill>
        <p:spPr>
          <a:xfrm>
            <a:off x="7558200" y="5800680"/>
            <a:ext cx="2885760" cy="542520"/>
          </a:xfrm>
          <a:prstGeom prst="rect">
            <a:avLst/>
          </a:prstGeom>
          <a:noFill/>
          <a:ln w="0">
            <a:noFill/>
          </a:ln>
        </p:spPr>
      </p:pic>
      <p:pic>
        <p:nvPicPr>
          <p:cNvPr id="133" name="Picture 5" descr="image.png"/>
          <p:cNvPicPr/>
          <p:nvPr/>
        </p:nvPicPr>
        <p:blipFill>
          <a:blip r:embed="rId5"/>
          <a:stretch/>
        </p:blipFill>
        <p:spPr>
          <a:xfrm>
            <a:off x="6886440" y="3476520"/>
            <a:ext cx="4228920" cy="542520"/>
          </a:xfrm>
          <a:prstGeom prst="rect">
            <a:avLst/>
          </a:prstGeom>
          <a:noFill/>
          <a:ln w="0">
            <a:noFill/>
          </a:ln>
        </p:spPr>
      </p:pic>
      <p:pic>
        <p:nvPicPr>
          <p:cNvPr id="134" name="Picture 6" descr="image.png"/>
          <p:cNvPicPr/>
          <p:nvPr/>
        </p:nvPicPr>
        <p:blipFill>
          <a:blip r:embed="rId6"/>
          <a:stretch/>
        </p:blipFill>
        <p:spPr>
          <a:xfrm>
            <a:off x="6886440" y="4486320"/>
            <a:ext cx="4228920" cy="542520"/>
          </a:xfrm>
          <a:prstGeom prst="rect">
            <a:avLst/>
          </a:prstGeom>
          <a:noFill/>
          <a:ln w="0">
            <a:noFill/>
          </a:ln>
        </p:spPr>
      </p:pic>
      <p:sp>
        <p:nvSpPr>
          <p:cNvPr id="135" name="Rectangle 7"/>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6" name="TextBox 8"/>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06</a:t>
            </a:r>
            <a:endParaRPr lang="en-US" sz="1200" b="0" u="none" strike="noStrike">
              <a:solidFill>
                <a:srgbClr val="000000"/>
              </a:solidFill>
              <a:effectLst/>
              <a:uFillTx/>
              <a:latin typeface="Arial"/>
            </a:endParaRPr>
          </a:p>
        </p:txBody>
      </p:sp>
      <p:sp>
        <p:nvSpPr>
          <p:cNvPr id="137" name="Rectangle 9"/>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38" name="TextBox 10"/>
          <p:cNvSpPr/>
          <p:nvPr/>
        </p:nvSpPr>
        <p:spPr>
          <a:xfrm>
            <a:off x="571680" y="533520"/>
            <a:ext cx="288000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3. Tool Calling</a:t>
            </a:r>
            <a:endParaRPr lang="en-US" sz="3150" b="0" u="none" strike="noStrike">
              <a:solidFill>
                <a:srgbClr val="000000"/>
              </a:solidFill>
              <a:effectLst/>
              <a:uFillTx/>
              <a:latin typeface="Arial"/>
            </a:endParaRPr>
          </a:p>
        </p:txBody>
      </p:sp>
      <p:sp>
        <p:nvSpPr>
          <p:cNvPr id="139" name="TextBox 11"/>
          <p:cNvSpPr/>
          <p:nvPr/>
        </p:nvSpPr>
        <p:spPr>
          <a:xfrm>
            <a:off x="571680" y="16095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Function/Tool Calling</a:t>
            </a:r>
            <a:endParaRPr lang="en-US" sz="1950" b="0" u="none" strike="noStrike">
              <a:solidFill>
                <a:srgbClr val="000000"/>
              </a:solidFill>
              <a:effectLst/>
              <a:uFillTx/>
              <a:latin typeface="Arial"/>
            </a:endParaRPr>
          </a:p>
        </p:txBody>
      </p:sp>
      <p:sp>
        <p:nvSpPr>
          <p:cNvPr id="140" name="TextBox 12"/>
          <p:cNvSpPr/>
          <p:nvPr/>
        </p:nvSpPr>
        <p:spPr>
          <a:xfrm>
            <a:off x="571680" y="1981080"/>
            <a:ext cx="5238360" cy="142884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 mechanism where the LLM recognizes it needs external information or action. It temporarily halts text generation to propose a specific function execution. The host application runs the function and returns the result back to the model to continue its reasoning.</a:t>
            </a:r>
            <a:endParaRPr lang="en-US" sz="1500" b="0" u="none" strike="noStrike">
              <a:solidFill>
                <a:srgbClr val="000000"/>
              </a:solidFill>
              <a:effectLst/>
              <a:uFillTx/>
              <a:latin typeface="Arial"/>
            </a:endParaRPr>
          </a:p>
        </p:txBody>
      </p:sp>
      <p:sp>
        <p:nvSpPr>
          <p:cNvPr id="141" name="TextBox 13"/>
          <p:cNvSpPr/>
          <p:nvPr/>
        </p:nvSpPr>
        <p:spPr>
          <a:xfrm>
            <a:off x="571680" y="374328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Passing Parameters to Tools</a:t>
            </a:r>
            <a:endParaRPr lang="en-US" sz="1950" b="0" u="none" strike="noStrike">
              <a:solidFill>
                <a:srgbClr val="000000"/>
              </a:solidFill>
              <a:effectLst/>
              <a:uFillTx/>
              <a:latin typeface="Arial"/>
            </a:endParaRPr>
          </a:p>
        </p:txBody>
      </p:sp>
      <p:sp>
        <p:nvSpPr>
          <p:cNvPr id="142" name="TextBox 14"/>
          <p:cNvSpPr/>
          <p:nvPr/>
        </p:nvSpPr>
        <p:spPr>
          <a:xfrm>
            <a:off x="571680" y="4114800"/>
            <a:ext cx="5238360" cy="171468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During a tool call, the LLM dynamically extracts arguments from the user's prompt and formats them according to the tool's predefined schema. Because the model can hallucinate arguments, the application logic must treat these parameters as untrusted input and validate them before execution.</a:t>
            </a:r>
            <a:endParaRPr lang="en-US" sz="1500" b="0" u="none" strike="noStrike">
              <a:solidFill>
                <a:srgbClr val="000000"/>
              </a:solidFill>
              <a:effectLst/>
              <a:uFillTx/>
              <a:latin typeface="Arial"/>
            </a:endParaRPr>
          </a:p>
        </p:txBody>
      </p:sp>
      <p:sp>
        <p:nvSpPr>
          <p:cNvPr id="143" name="TextBox 15"/>
          <p:cNvSpPr/>
          <p:nvPr/>
        </p:nvSpPr>
        <p:spPr>
          <a:xfrm>
            <a:off x="6886440" y="3219480"/>
            <a:ext cx="4228920" cy="161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50" b="0" u="none" strike="noStrike">
                <a:solidFill>
                  <a:srgbClr val="8B5A2B"/>
                </a:solidFill>
                <a:effectLst/>
                <a:uFillTx/>
                <a:latin typeface="Inter SemiBold"/>
              </a:rPr>
              <a:t>HOST APPLICATION</a:t>
            </a:r>
            <a:endParaRPr lang="en-US" sz="1050" b="0" u="none" strike="noStrike">
              <a:solidFill>
                <a:srgbClr val="000000"/>
              </a:solidFill>
              <a:effectLst/>
              <a:uFillTx/>
              <a:latin typeface="Arial"/>
            </a:endParaRPr>
          </a:p>
        </p:txBody>
      </p:sp>
      <p:sp>
        <p:nvSpPr>
          <p:cNvPr id="144" name="TextBox 16"/>
          <p:cNvSpPr/>
          <p:nvPr/>
        </p:nvSpPr>
        <p:spPr>
          <a:xfrm>
            <a:off x="7329600" y="2543040"/>
            <a:ext cx="334296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 Proposes Tool + JSON Args</a:t>
            </a:r>
            <a:endParaRPr lang="en-US" sz="1800" b="0" u="none" strike="noStrike">
              <a:solidFill>
                <a:srgbClr val="000000"/>
              </a:solidFill>
              <a:effectLst/>
              <a:uFillTx/>
              <a:latin typeface="Arial"/>
            </a:endParaRPr>
          </a:p>
        </p:txBody>
      </p:sp>
      <p:sp>
        <p:nvSpPr>
          <p:cNvPr id="145" name="TextBox 17"/>
          <p:cNvSpPr/>
          <p:nvPr/>
        </p:nvSpPr>
        <p:spPr>
          <a:xfrm>
            <a:off x="7567560" y="5429160"/>
            <a:ext cx="286668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 Returns Result Payload</a:t>
            </a:r>
            <a:endParaRPr lang="en-US" sz="1800" b="0" u="none" strike="noStrike">
              <a:solidFill>
                <a:srgbClr val="000000"/>
              </a:solidFill>
              <a:effectLst/>
              <a:uFillTx/>
              <a:latin typeface="Arial"/>
            </a:endParaRPr>
          </a:p>
        </p:txBody>
      </p:sp>
      <p:sp>
        <p:nvSpPr>
          <p:cNvPr id="146" name="TextBox 18"/>
          <p:cNvSpPr/>
          <p:nvPr/>
        </p:nvSpPr>
        <p:spPr>
          <a:xfrm>
            <a:off x="6886440" y="4114800"/>
            <a:ext cx="422892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 name="TextBox 2"/>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07</a:t>
            </a:r>
            <a:endParaRPr lang="en-US" sz="1200" b="0" u="none" strike="noStrike">
              <a:solidFill>
                <a:srgbClr val="000000"/>
              </a:solidFill>
              <a:effectLst/>
              <a:uFillTx/>
              <a:latin typeface="Arial"/>
            </a:endParaRPr>
          </a:p>
        </p:txBody>
      </p:sp>
      <p:sp>
        <p:nvSpPr>
          <p:cNvPr id="149" name="Rectangle 3"/>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50" name="TextBox 4"/>
          <p:cNvSpPr/>
          <p:nvPr/>
        </p:nvSpPr>
        <p:spPr>
          <a:xfrm>
            <a:off x="571680" y="533520"/>
            <a:ext cx="458028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4. Embeddings (Part 1)</a:t>
            </a:r>
            <a:endParaRPr lang="en-US" sz="3150" b="0" u="none" strike="noStrike">
              <a:solidFill>
                <a:srgbClr val="000000"/>
              </a:solidFill>
              <a:effectLst/>
              <a:uFillTx/>
              <a:latin typeface="Arial"/>
            </a:endParaRPr>
          </a:p>
        </p:txBody>
      </p:sp>
      <p:sp>
        <p:nvSpPr>
          <p:cNvPr id="151" name="TextBox 5"/>
          <p:cNvSpPr/>
          <p:nvPr/>
        </p:nvSpPr>
        <p:spPr>
          <a:xfrm>
            <a:off x="571680" y="16095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Text Embeddings</a:t>
            </a:r>
            <a:endParaRPr lang="en-US" sz="1950" b="0" u="none" strike="noStrike">
              <a:solidFill>
                <a:srgbClr val="000000"/>
              </a:solidFill>
              <a:effectLst/>
              <a:uFillTx/>
              <a:latin typeface="Arial"/>
            </a:endParaRPr>
          </a:p>
        </p:txBody>
      </p:sp>
      <p:sp>
        <p:nvSpPr>
          <p:cNvPr id="152" name="TextBox 6"/>
          <p:cNvSpPr/>
          <p:nvPr/>
        </p:nvSpPr>
        <p:spPr>
          <a:xfrm>
            <a:off x="571680" y="198108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transformation of human-readable text high-dimensional numerical vectors (arrays of floating-point numbers). This mathematical representation allows computers to process language fundamentally, placing words or sentences with similar meanings near each other in vector space.</a:t>
            </a:r>
            <a:endParaRPr lang="en-US" sz="1500" b="0" u="none" strike="noStrike">
              <a:solidFill>
                <a:srgbClr val="000000"/>
              </a:solidFill>
              <a:effectLst/>
              <a:uFillTx/>
              <a:latin typeface="Arial"/>
            </a:endParaRPr>
          </a:p>
        </p:txBody>
      </p:sp>
      <p:sp>
        <p:nvSpPr>
          <p:cNvPr id="153" name="TextBox 7"/>
          <p:cNvSpPr/>
          <p:nvPr/>
        </p:nvSpPr>
        <p:spPr>
          <a:xfrm>
            <a:off x="571680" y="326700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Semantic Similarity</a:t>
            </a:r>
            <a:endParaRPr lang="en-US" sz="1950" b="0" u="none" strike="noStrike">
              <a:solidFill>
                <a:srgbClr val="000000"/>
              </a:solidFill>
              <a:effectLst/>
              <a:uFillTx/>
              <a:latin typeface="Arial"/>
            </a:endParaRPr>
          </a:p>
        </p:txBody>
      </p:sp>
      <p:sp>
        <p:nvSpPr>
          <p:cNvPr id="154" name="TextBox 8"/>
          <p:cNvSpPr/>
          <p:nvPr/>
        </p:nvSpPr>
        <p:spPr>
          <a:xfrm>
            <a:off x="571680" y="363852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concept of comparing the underlying meaning, context, and intent of two pieces of text, regardless of exact keyword matches. Unlike traditional search that looks for identical words, semantic similarity enables AI systems to successfully handle paraphrases, synonyms, and broader conceptual relationships.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5" name="Picture 1" descr="image.png"/>
          <p:cNvPicPr/>
          <p:nvPr/>
        </p:nvPicPr>
        <p:blipFill>
          <a:blip r:embed="rId1"/>
          <a:stretch/>
        </p:blipFill>
        <p:spPr>
          <a:xfrm>
            <a:off x="6381720" y="1609560"/>
            <a:ext cx="5238360" cy="4866840"/>
          </a:xfrm>
          <a:prstGeom prst="rect">
            <a:avLst/>
          </a:prstGeom>
          <a:noFill/>
          <a:ln w="0">
            <a:noFill/>
          </a:ln>
        </p:spPr>
      </p:pic>
      <p:pic>
        <p:nvPicPr>
          <p:cNvPr id="156" name="Picture 2" descr="image.png"/>
          <p:cNvPicPr/>
          <p:nvPr/>
        </p:nvPicPr>
        <p:blipFill>
          <a:blip r:embed="rId2"/>
          <a:stretch/>
        </p:blipFill>
        <p:spPr>
          <a:xfrm>
            <a:off x="6896160" y="3662280"/>
            <a:ext cx="1823760" cy="1063800"/>
          </a:xfrm>
          <a:prstGeom prst="rect">
            <a:avLst/>
          </a:prstGeom>
          <a:noFill/>
          <a:ln w="0">
            <a:noFill/>
          </a:ln>
        </p:spPr>
      </p:pic>
      <p:pic>
        <p:nvPicPr>
          <p:cNvPr id="157" name="Picture 3" descr="image.png"/>
          <p:cNvPicPr/>
          <p:nvPr/>
        </p:nvPicPr>
        <p:blipFill>
          <a:blip r:embed="rId3"/>
          <a:stretch/>
        </p:blipFill>
        <p:spPr>
          <a:xfrm>
            <a:off x="6896160" y="3497760"/>
            <a:ext cx="1225440" cy="1225440"/>
          </a:xfrm>
          <a:prstGeom prst="rect">
            <a:avLst/>
          </a:prstGeom>
          <a:noFill/>
          <a:ln w="0">
            <a:noFill/>
          </a:ln>
        </p:spPr>
      </p:pic>
      <p:sp>
        <p:nvSpPr>
          <p:cNvPr id="158" name="Rectangle 4"/>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9" name="TextBox 5"/>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08</a:t>
            </a:r>
            <a:endParaRPr lang="en-US" sz="1200" b="0" u="none" strike="noStrike">
              <a:solidFill>
                <a:srgbClr val="000000"/>
              </a:solidFill>
              <a:effectLst/>
              <a:uFillTx/>
              <a:latin typeface="Arial"/>
            </a:endParaRPr>
          </a:p>
        </p:txBody>
      </p:sp>
      <p:sp>
        <p:nvSpPr>
          <p:cNvPr id="160" name="Rectangle 6"/>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61" name="TextBox 7"/>
          <p:cNvSpPr/>
          <p:nvPr/>
        </p:nvSpPr>
        <p:spPr>
          <a:xfrm>
            <a:off x="571680" y="533520"/>
            <a:ext cx="466020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4. Embeddings (Part 2)</a:t>
            </a:r>
            <a:endParaRPr lang="en-US" sz="3150" b="0" u="none" strike="noStrike">
              <a:solidFill>
                <a:srgbClr val="000000"/>
              </a:solidFill>
              <a:effectLst/>
              <a:uFillTx/>
              <a:latin typeface="Arial"/>
            </a:endParaRPr>
          </a:p>
        </p:txBody>
      </p:sp>
      <p:sp>
        <p:nvSpPr>
          <p:cNvPr id="162" name="TextBox 8"/>
          <p:cNvSpPr/>
          <p:nvPr/>
        </p:nvSpPr>
        <p:spPr>
          <a:xfrm>
            <a:off x="571680" y="16095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Cosine Similarity</a:t>
            </a:r>
            <a:endParaRPr lang="en-US" sz="1950" b="0" u="none" strike="noStrike">
              <a:solidFill>
                <a:srgbClr val="000000"/>
              </a:solidFill>
              <a:effectLst/>
              <a:uFillTx/>
              <a:latin typeface="Arial"/>
            </a:endParaRPr>
          </a:p>
        </p:txBody>
      </p:sp>
      <p:sp>
        <p:nvSpPr>
          <p:cNvPr id="163" name="TextBox 9"/>
          <p:cNvSpPr/>
          <p:nvPr/>
        </p:nvSpPr>
        <p:spPr>
          <a:xfrm>
            <a:off x="571680" y="1981080"/>
            <a:ext cx="5238360" cy="171468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 specific mathematical metric used to measure the angle between two embedding vectors in space. A smaller angle (resulting in a cosine value closer to 1) indicates high semantic similarity. It is preferred because it focuses entirely on direction, ensuring that the length of the document does not skew the relevance score.</a:t>
            </a:r>
            <a:endParaRPr lang="en-US" sz="1500" b="0" u="none" strike="noStrike">
              <a:solidFill>
                <a:srgbClr val="000000"/>
              </a:solidFill>
              <a:effectLst/>
              <a:uFillTx/>
              <a:latin typeface="Arial"/>
            </a:endParaRPr>
          </a:p>
        </p:txBody>
      </p:sp>
      <p:sp>
        <p:nvSpPr>
          <p:cNvPr id="164" name="TextBox 10"/>
          <p:cNvSpPr/>
          <p:nvPr/>
        </p:nvSpPr>
        <p:spPr>
          <a:xfrm>
            <a:off x="571680" y="402912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Embedding Models</a:t>
            </a:r>
            <a:endParaRPr lang="en-US" sz="1950" b="0" u="none" strike="noStrike">
              <a:solidFill>
                <a:srgbClr val="000000"/>
              </a:solidFill>
              <a:effectLst/>
              <a:uFillTx/>
              <a:latin typeface="Arial"/>
            </a:endParaRPr>
          </a:p>
        </p:txBody>
      </p:sp>
      <p:sp>
        <p:nvSpPr>
          <p:cNvPr id="165" name="TextBox 11"/>
          <p:cNvSpPr/>
          <p:nvPr/>
        </p:nvSpPr>
        <p:spPr>
          <a:xfrm>
            <a:off x="571680" y="4400640"/>
            <a:ext cx="5238360" cy="115632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Specialized neural networks designed exclusively to transform raw text into uniform vector representations. Choosing the right model is critical; once data is embedded, changing the model requires re-embedding the entire corporate corpus.</a:t>
            </a:r>
            <a:endParaRPr lang="en-US" sz="1500" b="0" u="none" strike="noStrike">
              <a:solidFill>
                <a:srgbClr val="000000"/>
              </a:solidFill>
              <a:effectLst/>
              <a:uFillTx/>
              <a:latin typeface="Arial"/>
            </a:endParaRPr>
          </a:p>
        </p:txBody>
      </p:sp>
      <p:sp>
        <p:nvSpPr>
          <p:cNvPr id="166" name="TextBox 12"/>
          <p:cNvSpPr/>
          <p:nvPr/>
        </p:nvSpPr>
        <p:spPr>
          <a:xfrm>
            <a:off x="8134200" y="4824360"/>
            <a:ext cx="952200" cy="190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4A4A4A"/>
                </a:solidFill>
                <a:effectLst/>
                <a:uFillTx/>
                <a:latin typeface="Inter"/>
              </a:rPr>
              <a:t>Dimension X</a:t>
            </a:r>
            <a:endParaRPr lang="en-US" sz="1200" b="0" u="none" strike="noStrike">
              <a:solidFill>
                <a:srgbClr val="000000"/>
              </a:solidFill>
              <a:effectLst/>
              <a:uFillTx/>
              <a:latin typeface="Arial"/>
            </a:endParaRPr>
          </a:p>
        </p:txBody>
      </p:sp>
      <p:sp>
        <p:nvSpPr>
          <p:cNvPr id="167" name="TextBox 13"/>
          <p:cNvSpPr/>
          <p:nvPr/>
        </p:nvSpPr>
        <p:spPr>
          <a:xfrm rot="5400000">
            <a:off x="6269040" y="3440880"/>
            <a:ext cx="962280" cy="184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4A4A4A"/>
                </a:solidFill>
                <a:effectLst/>
                <a:uFillTx/>
                <a:latin typeface="Inter"/>
              </a:rPr>
              <a:t>Dimension Y</a:t>
            </a:r>
            <a:endParaRPr lang="en-US" sz="1200" b="0" u="none" strike="noStrike">
              <a:solidFill>
                <a:srgbClr val="000000"/>
              </a:solidFill>
              <a:effectLst/>
              <a:uFillTx/>
              <a:latin typeface="Arial"/>
            </a:endParaRPr>
          </a:p>
        </p:txBody>
      </p:sp>
      <p:sp>
        <p:nvSpPr>
          <p:cNvPr id="168" name="Rounded Rectangle 14"/>
          <p:cNvSpPr/>
          <p:nvPr/>
        </p:nvSpPr>
        <p:spPr>
          <a:xfrm>
            <a:off x="6657840" y="4014720"/>
            <a:ext cx="952200" cy="952200"/>
          </a:xfrm>
          <a:prstGeom prst="roundRect">
            <a:avLst>
              <a:gd name="adj" fmla="val 50000"/>
            </a:avLst>
          </a:prstGeom>
          <a:noFill/>
          <a:ln w="19050">
            <a:solidFill>
              <a:srgbClr val="A8A29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9" name="TextBox 15"/>
          <p:cNvSpPr/>
          <p:nvPr/>
        </p:nvSpPr>
        <p:spPr>
          <a:xfrm>
            <a:off x="7658280" y="4205160"/>
            <a:ext cx="1590480" cy="1425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00" b="1" u="none" strike="noStrike">
                <a:solidFill>
                  <a:srgbClr val="8B5A2B"/>
                </a:solidFill>
                <a:effectLst/>
                <a:uFillTx/>
                <a:latin typeface="Inter"/>
              </a:rPr>
              <a:t>Small Angle = High Similarity</a:t>
            </a:r>
            <a:endParaRPr lang="en-US" sz="900" b="0" u="none" strike="noStrike">
              <a:solidFill>
                <a:srgbClr val="000000"/>
              </a:solidFill>
              <a:effectLst/>
              <a:uFillTx/>
              <a:latin typeface="Arial"/>
            </a:endParaRPr>
          </a:p>
        </p:txBody>
      </p:sp>
      <p:sp>
        <p:nvSpPr>
          <p:cNvPr id="170" name="Rounded Rectangle 16"/>
          <p:cNvSpPr/>
          <p:nvPr/>
        </p:nvSpPr>
        <p:spPr>
          <a:xfrm>
            <a:off x="8645760" y="3597480"/>
            <a:ext cx="129600" cy="129600"/>
          </a:xfrm>
          <a:prstGeom prst="roundRect">
            <a:avLst>
              <a:gd name="adj" fmla="val 50000"/>
            </a:avLst>
          </a:prstGeom>
          <a:solidFill>
            <a:srgbClr val="8B5A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 name="TextBox 17"/>
          <p:cNvSpPr/>
          <p:nvPr/>
        </p:nvSpPr>
        <p:spPr>
          <a:xfrm>
            <a:off x="8179200" y="3265560"/>
            <a:ext cx="822960" cy="5684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333333"/>
                </a:solidFill>
                <a:effectLst/>
                <a:uFillTx/>
                <a:latin typeface="Inter"/>
              </a:rPr>
              <a:t>Query Vector</a:t>
            </a:r>
            <a:endParaRPr lang="en-US" sz="1050" b="0" u="none" strike="noStrike">
              <a:solidFill>
                <a:srgbClr val="000000"/>
              </a:solidFill>
              <a:effectLst/>
              <a:uFillTx/>
              <a:latin typeface="Arial"/>
            </a:endParaRPr>
          </a:p>
        </p:txBody>
      </p:sp>
      <p:sp>
        <p:nvSpPr>
          <p:cNvPr id="172" name="Rounded Rectangle 18"/>
          <p:cNvSpPr/>
          <p:nvPr/>
        </p:nvSpPr>
        <p:spPr>
          <a:xfrm>
            <a:off x="8040960" y="3430440"/>
            <a:ext cx="134280" cy="134280"/>
          </a:xfrm>
          <a:prstGeom prst="roundRect">
            <a:avLst>
              <a:gd name="adj" fmla="val 50000"/>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3" name="TextBox 19"/>
          <p:cNvSpPr/>
          <p:nvPr/>
        </p:nvSpPr>
        <p:spPr>
          <a:xfrm>
            <a:off x="7569720" y="3194640"/>
            <a:ext cx="619200" cy="619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50" b="1" u="none" strike="noStrike">
                <a:solidFill>
                  <a:srgbClr val="333333"/>
                </a:solidFill>
                <a:effectLst/>
                <a:uFillTx/>
                <a:latin typeface="Inter"/>
              </a:rPr>
              <a:t>Doc Vector</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4" name="Picture 1" descr="image.png"/>
          <p:cNvPicPr/>
          <p:nvPr/>
        </p:nvPicPr>
        <p:blipFill>
          <a:blip r:embed="rId1"/>
          <a:stretch/>
        </p:blipFill>
        <p:spPr>
          <a:xfrm>
            <a:off x="6381720" y="1328400"/>
            <a:ext cx="5238360" cy="5114520"/>
          </a:xfrm>
          <a:prstGeom prst="rect">
            <a:avLst/>
          </a:prstGeom>
          <a:noFill/>
          <a:ln w="0">
            <a:noFill/>
          </a:ln>
        </p:spPr>
      </p:pic>
      <p:pic>
        <p:nvPicPr>
          <p:cNvPr id="175" name="Picture 2" descr="image.png"/>
          <p:cNvPicPr/>
          <p:nvPr/>
        </p:nvPicPr>
        <p:blipFill>
          <a:blip r:embed="rId2"/>
          <a:stretch/>
        </p:blipFill>
        <p:spPr>
          <a:xfrm>
            <a:off x="6676920" y="2043000"/>
            <a:ext cx="4647960" cy="4247640"/>
          </a:xfrm>
          <a:prstGeom prst="rect">
            <a:avLst/>
          </a:prstGeom>
          <a:noFill/>
          <a:ln w="0">
            <a:noFill/>
          </a:ln>
        </p:spPr>
      </p:pic>
      <p:pic>
        <p:nvPicPr>
          <p:cNvPr id="176" name="Picture 3" descr="image.png"/>
          <p:cNvPicPr/>
          <p:nvPr/>
        </p:nvPicPr>
        <p:blipFill>
          <a:blip r:embed="rId3"/>
          <a:stretch/>
        </p:blipFill>
        <p:spPr>
          <a:xfrm>
            <a:off x="6886440" y="2509920"/>
            <a:ext cx="4228920" cy="542520"/>
          </a:xfrm>
          <a:prstGeom prst="rect">
            <a:avLst/>
          </a:prstGeom>
          <a:noFill/>
          <a:ln w="0">
            <a:noFill/>
          </a:ln>
        </p:spPr>
      </p:pic>
      <p:pic>
        <p:nvPicPr>
          <p:cNvPr id="177" name="Picture 4" descr="image.png"/>
          <p:cNvPicPr/>
          <p:nvPr/>
        </p:nvPicPr>
        <p:blipFill>
          <a:blip r:embed="rId4"/>
          <a:stretch/>
        </p:blipFill>
        <p:spPr>
          <a:xfrm>
            <a:off x="6886440" y="3519360"/>
            <a:ext cx="4228920" cy="542520"/>
          </a:xfrm>
          <a:prstGeom prst="rect">
            <a:avLst/>
          </a:prstGeom>
          <a:noFill/>
          <a:ln w="0">
            <a:noFill/>
          </a:ln>
        </p:spPr>
      </p:pic>
      <p:pic>
        <p:nvPicPr>
          <p:cNvPr id="178" name="Picture 5" descr="image.png"/>
          <p:cNvPicPr/>
          <p:nvPr/>
        </p:nvPicPr>
        <p:blipFill>
          <a:blip r:embed="rId5"/>
          <a:stretch/>
        </p:blipFill>
        <p:spPr>
          <a:xfrm>
            <a:off x="6886440" y="4529160"/>
            <a:ext cx="4228920" cy="542520"/>
          </a:xfrm>
          <a:prstGeom prst="rect">
            <a:avLst/>
          </a:prstGeom>
          <a:noFill/>
          <a:ln w="0">
            <a:noFill/>
          </a:ln>
        </p:spPr>
      </p:pic>
      <p:pic>
        <p:nvPicPr>
          <p:cNvPr id="179" name="Picture 6" descr="image.png"/>
          <p:cNvPicPr/>
          <p:nvPr/>
        </p:nvPicPr>
        <p:blipFill>
          <a:blip r:embed="rId6"/>
          <a:stretch/>
        </p:blipFill>
        <p:spPr>
          <a:xfrm>
            <a:off x="6886440" y="5538960"/>
            <a:ext cx="4228920" cy="542520"/>
          </a:xfrm>
          <a:prstGeom prst="rect">
            <a:avLst/>
          </a:prstGeom>
          <a:noFill/>
          <a:ln w="0">
            <a:noFill/>
          </a:ln>
        </p:spPr>
      </p:pic>
      <p:sp>
        <p:nvSpPr>
          <p:cNvPr id="180" name="Rectangle 7"/>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1" name="TextBox 8"/>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09</a:t>
            </a:r>
            <a:endParaRPr lang="en-US" sz="1200" b="0" u="none" strike="noStrike">
              <a:solidFill>
                <a:srgbClr val="000000"/>
              </a:solidFill>
              <a:effectLst/>
              <a:uFillTx/>
              <a:latin typeface="Arial"/>
            </a:endParaRPr>
          </a:p>
        </p:txBody>
      </p:sp>
      <p:sp>
        <p:nvSpPr>
          <p:cNvPr id="182" name="Rectangle 9"/>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83" name="TextBox 10"/>
          <p:cNvSpPr/>
          <p:nvPr/>
        </p:nvSpPr>
        <p:spPr>
          <a:xfrm>
            <a:off x="571680" y="533520"/>
            <a:ext cx="589032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5. RAG Fundamentals (Part 1)</a:t>
            </a:r>
            <a:endParaRPr lang="en-US" sz="3150" b="0" u="none" strike="noStrike">
              <a:solidFill>
                <a:srgbClr val="000000"/>
              </a:solidFill>
              <a:effectLst/>
              <a:uFillTx/>
              <a:latin typeface="Arial"/>
            </a:endParaRPr>
          </a:p>
        </p:txBody>
      </p:sp>
      <p:sp>
        <p:nvSpPr>
          <p:cNvPr id="184" name="TextBox 11"/>
          <p:cNvSpPr/>
          <p:nvPr/>
        </p:nvSpPr>
        <p:spPr>
          <a:xfrm>
            <a:off x="571680" y="16095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Document Loading</a:t>
            </a:r>
            <a:endParaRPr lang="en-US" sz="1950" b="0" u="none" strike="noStrike">
              <a:solidFill>
                <a:srgbClr val="000000"/>
              </a:solidFill>
              <a:effectLst/>
              <a:uFillTx/>
              <a:latin typeface="Arial"/>
            </a:endParaRPr>
          </a:p>
        </p:txBody>
      </p:sp>
      <p:sp>
        <p:nvSpPr>
          <p:cNvPr id="185" name="TextBox 12"/>
          <p:cNvSpPr/>
          <p:nvPr/>
        </p:nvSpPr>
        <p:spPr>
          <a:xfrm>
            <a:off x="571680" y="1981080"/>
            <a:ext cx="52383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initial ingestion phase of extracting raw text from various unstructured enterprise sources (PDFs, Word docs, internal wikis) into a standardized data pipeline.</a:t>
            </a:r>
            <a:endParaRPr lang="en-US" sz="1500" b="0" u="none" strike="noStrike">
              <a:solidFill>
                <a:srgbClr val="000000"/>
              </a:solidFill>
              <a:effectLst/>
              <a:uFillTx/>
              <a:latin typeface="Arial"/>
            </a:endParaRPr>
          </a:p>
        </p:txBody>
      </p:sp>
      <p:sp>
        <p:nvSpPr>
          <p:cNvPr id="186" name="TextBox 13"/>
          <p:cNvSpPr/>
          <p:nvPr/>
        </p:nvSpPr>
        <p:spPr>
          <a:xfrm>
            <a:off x="571680" y="31719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Chunking</a:t>
            </a:r>
            <a:endParaRPr lang="en-US" sz="1950" b="0" u="none" strike="noStrike">
              <a:solidFill>
                <a:srgbClr val="000000"/>
              </a:solidFill>
              <a:effectLst/>
              <a:uFillTx/>
              <a:latin typeface="Arial"/>
            </a:endParaRPr>
          </a:p>
        </p:txBody>
      </p:sp>
      <p:sp>
        <p:nvSpPr>
          <p:cNvPr id="187" name="TextBox 14"/>
          <p:cNvSpPr/>
          <p:nvPr/>
        </p:nvSpPr>
        <p:spPr>
          <a:xfrm>
            <a:off x="571680" y="354348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Splitting large, monolithic documents into smaller, semantically meaningful text segments. Too small chunks lose context, while too large chunks dilute the quality of vector search and exceed token limits.</a:t>
            </a:r>
            <a:endParaRPr lang="en-US" sz="1500" b="0" u="none" strike="noStrike">
              <a:solidFill>
                <a:srgbClr val="000000"/>
              </a:solidFill>
              <a:effectLst/>
              <a:uFillTx/>
              <a:latin typeface="Arial"/>
            </a:endParaRPr>
          </a:p>
        </p:txBody>
      </p:sp>
      <p:sp>
        <p:nvSpPr>
          <p:cNvPr id="188" name="TextBox 15"/>
          <p:cNvSpPr/>
          <p:nvPr/>
        </p:nvSpPr>
        <p:spPr>
          <a:xfrm>
            <a:off x="571680" y="501984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Embeddings</a:t>
            </a:r>
            <a:endParaRPr lang="en-US" sz="1950" b="0" u="none" strike="noStrike">
              <a:solidFill>
                <a:srgbClr val="000000"/>
              </a:solidFill>
              <a:effectLst/>
              <a:uFillTx/>
              <a:latin typeface="Arial"/>
            </a:endParaRPr>
          </a:p>
        </p:txBody>
      </p:sp>
      <p:sp>
        <p:nvSpPr>
          <p:cNvPr id="189" name="TextBox 16"/>
          <p:cNvSpPr/>
          <p:nvPr/>
        </p:nvSpPr>
        <p:spPr>
          <a:xfrm>
            <a:off x="571680" y="539100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Converting these individual text chunks into mathematical vector representations via an embedding model, preparing the enterprise knowledge to be indexed and searched computationally.</a:t>
            </a:r>
            <a:endParaRPr lang="en-US" sz="1500" b="0" u="none" strike="noStrike">
              <a:solidFill>
                <a:srgbClr val="000000"/>
              </a:solidFill>
              <a:effectLst/>
              <a:uFillTx/>
              <a:latin typeface="Arial"/>
            </a:endParaRPr>
          </a:p>
        </p:txBody>
      </p:sp>
      <p:sp>
        <p:nvSpPr>
          <p:cNvPr id="190" name="TextBox 17"/>
          <p:cNvSpPr/>
          <p:nvPr/>
        </p:nvSpPr>
        <p:spPr>
          <a:xfrm>
            <a:off x="6886440" y="2252520"/>
            <a:ext cx="4228920" cy="161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50" b="0" u="none" strike="noStrike">
                <a:solidFill>
                  <a:srgbClr val="8B5A2B"/>
                </a:solidFill>
                <a:effectLst/>
                <a:uFillTx/>
                <a:latin typeface="Inter SemiBold"/>
              </a:rPr>
              <a:t>DATA INGESTION PIPELINE</a:t>
            </a:r>
            <a:endParaRPr lang="en-US" sz="1050" b="0" u="none" strike="noStrike">
              <a:solidFill>
                <a:srgbClr val="000000"/>
              </a:solidFill>
              <a:effectLst/>
              <a:uFillTx/>
              <a:latin typeface="Arial"/>
            </a:endParaRPr>
          </a:p>
        </p:txBody>
      </p:sp>
      <p:sp>
        <p:nvSpPr>
          <p:cNvPr id="191" name="TextBox 18"/>
          <p:cNvSpPr/>
          <p:nvPr/>
        </p:nvSpPr>
        <p:spPr>
          <a:xfrm>
            <a:off x="6886440" y="3147840"/>
            <a:ext cx="422892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
        <p:nvSpPr>
          <p:cNvPr id="192" name="TextBox 19"/>
          <p:cNvSpPr/>
          <p:nvPr/>
        </p:nvSpPr>
        <p:spPr>
          <a:xfrm>
            <a:off x="6886440" y="4157640"/>
            <a:ext cx="422892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
        <p:nvSpPr>
          <p:cNvPr id="193" name="TextBox 20"/>
          <p:cNvSpPr/>
          <p:nvPr/>
        </p:nvSpPr>
        <p:spPr>
          <a:xfrm>
            <a:off x="6886440" y="5167440"/>
            <a:ext cx="422892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4"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5" name="TextBox 2"/>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10</a:t>
            </a:r>
            <a:endParaRPr lang="en-US" sz="1200" b="0" u="none" strike="noStrike">
              <a:solidFill>
                <a:srgbClr val="000000"/>
              </a:solidFill>
              <a:effectLst/>
              <a:uFillTx/>
              <a:latin typeface="Arial"/>
            </a:endParaRPr>
          </a:p>
        </p:txBody>
      </p:sp>
      <p:sp>
        <p:nvSpPr>
          <p:cNvPr id="196" name="Rectangle 3"/>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197" name="TextBox 4"/>
          <p:cNvSpPr/>
          <p:nvPr/>
        </p:nvSpPr>
        <p:spPr>
          <a:xfrm>
            <a:off x="571680" y="533520"/>
            <a:ext cx="597024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5. RAG Fundamentals (Part 2)</a:t>
            </a:r>
            <a:endParaRPr lang="en-US" sz="3150" b="0" u="none" strike="noStrike">
              <a:solidFill>
                <a:srgbClr val="000000"/>
              </a:solidFill>
              <a:effectLst/>
              <a:uFillTx/>
              <a:latin typeface="Arial"/>
            </a:endParaRPr>
          </a:p>
        </p:txBody>
      </p:sp>
      <p:sp>
        <p:nvSpPr>
          <p:cNvPr id="198" name="TextBox 5"/>
          <p:cNvSpPr/>
          <p:nvPr/>
        </p:nvSpPr>
        <p:spPr>
          <a:xfrm>
            <a:off x="571680" y="16095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Retrieval</a:t>
            </a:r>
            <a:endParaRPr lang="en-US" sz="1950" b="0" u="none" strike="noStrike">
              <a:solidFill>
                <a:srgbClr val="000000"/>
              </a:solidFill>
              <a:effectLst/>
              <a:uFillTx/>
              <a:latin typeface="Arial"/>
            </a:endParaRPr>
          </a:p>
        </p:txBody>
      </p:sp>
      <p:sp>
        <p:nvSpPr>
          <p:cNvPr id="199" name="TextBox 6"/>
          <p:cNvSpPr/>
          <p:nvPr/>
        </p:nvSpPr>
        <p:spPr>
          <a:xfrm>
            <a:off x="571680" y="1981080"/>
            <a:ext cx="11048760" cy="8568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real-time process of embedding a user's prompt and searching the vector index for chunks that most closely match the query's semantic meaning. It bridges the gap between static LLM weights and dynamic, proprietary external knowledge.</a:t>
            </a:r>
            <a:endParaRPr lang="en-US" sz="1500" b="0" u="none" strike="noStrike">
              <a:solidFill>
                <a:srgbClr val="000000"/>
              </a:solidFill>
              <a:effectLst/>
              <a:uFillTx/>
              <a:latin typeface="Arial"/>
            </a:endParaRPr>
          </a:p>
        </p:txBody>
      </p:sp>
      <p:sp>
        <p:nvSpPr>
          <p:cNvPr id="200" name="TextBox 7"/>
          <p:cNvSpPr/>
          <p:nvPr/>
        </p:nvSpPr>
        <p:spPr>
          <a:xfrm>
            <a:off x="571680" y="30909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Context Injection</a:t>
            </a:r>
            <a:endParaRPr lang="en-US" sz="1950" b="0" u="none" strike="noStrike">
              <a:solidFill>
                <a:srgbClr val="000000"/>
              </a:solidFill>
              <a:effectLst/>
              <a:uFillTx/>
              <a:latin typeface="Arial"/>
            </a:endParaRPr>
          </a:p>
        </p:txBody>
      </p:sp>
      <p:sp>
        <p:nvSpPr>
          <p:cNvPr id="201" name="TextBox 8"/>
          <p:cNvSpPr/>
          <p:nvPr/>
        </p:nvSpPr>
        <p:spPr>
          <a:xfrm>
            <a:off x="571680" y="3479040"/>
            <a:ext cx="11048760" cy="57132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Programmatically appending the retrieved, highly relevant text chunks directly into the LLM's system prompt or context window. This temporarily expands the model's knowledge base specifically for the current interaction.</a:t>
            </a:r>
            <a:endParaRPr lang="en-US" sz="1500" b="0" u="none" strike="noStrike">
              <a:solidFill>
                <a:srgbClr val="000000"/>
              </a:solidFill>
              <a:effectLst/>
              <a:uFillTx/>
              <a:latin typeface="Arial"/>
            </a:endParaRPr>
          </a:p>
        </p:txBody>
      </p:sp>
      <p:sp>
        <p:nvSpPr>
          <p:cNvPr id="202" name="TextBox 9"/>
          <p:cNvSpPr/>
          <p:nvPr/>
        </p:nvSpPr>
        <p:spPr>
          <a:xfrm>
            <a:off x="571680" y="463860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Answer Generation</a:t>
            </a:r>
            <a:endParaRPr lang="en-US" sz="1950" b="0" u="none" strike="noStrike">
              <a:solidFill>
                <a:srgbClr val="000000"/>
              </a:solidFill>
              <a:effectLst/>
              <a:uFillTx/>
              <a:latin typeface="Arial"/>
            </a:endParaRPr>
          </a:p>
        </p:txBody>
      </p:sp>
      <p:sp>
        <p:nvSpPr>
          <p:cNvPr id="203" name="TextBox 10"/>
          <p:cNvSpPr/>
          <p:nvPr/>
        </p:nvSpPr>
        <p:spPr>
          <a:xfrm>
            <a:off x="571680" y="5010120"/>
            <a:ext cx="11048760" cy="8568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final step where the LLM inference engine synthesizes the injected context to formulate a coherent, accurate response. The model is typically instructed to strictly base its answer only on the provided documents to minimize hallucination risks.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4"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5" name="TextBox 2"/>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11</a:t>
            </a:r>
            <a:endParaRPr lang="en-US" sz="1200" b="0" u="none" strike="noStrike">
              <a:solidFill>
                <a:srgbClr val="000000"/>
              </a:solidFill>
              <a:effectLst/>
              <a:uFillTx/>
              <a:latin typeface="Arial"/>
            </a:endParaRPr>
          </a:p>
        </p:txBody>
      </p:sp>
      <p:sp>
        <p:nvSpPr>
          <p:cNvPr id="206" name="Rectangle 3"/>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207" name="TextBox 4"/>
          <p:cNvSpPr/>
          <p:nvPr/>
        </p:nvSpPr>
        <p:spPr>
          <a:xfrm>
            <a:off x="571680" y="533520"/>
            <a:ext cx="791064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6. Vector Databases &amp; Retrieval (Part 1)</a:t>
            </a:r>
            <a:endParaRPr lang="en-US" sz="3150" b="0" u="none" strike="noStrike">
              <a:solidFill>
                <a:srgbClr val="000000"/>
              </a:solidFill>
              <a:effectLst/>
              <a:uFillTx/>
              <a:latin typeface="Arial"/>
            </a:endParaRPr>
          </a:p>
        </p:txBody>
      </p:sp>
      <p:sp>
        <p:nvSpPr>
          <p:cNvPr id="208" name="TextBox 5"/>
          <p:cNvSpPr/>
          <p:nvPr/>
        </p:nvSpPr>
        <p:spPr>
          <a:xfrm>
            <a:off x="571680" y="16095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Vector Stores</a:t>
            </a:r>
            <a:endParaRPr lang="en-US" sz="1950" b="0" u="none" strike="noStrike">
              <a:solidFill>
                <a:srgbClr val="000000"/>
              </a:solidFill>
              <a:effectLst/>
              <a:uFillTx/>
              <a:latin typeface="Arial"/>
            </a:endParaRPr>
          </a:p>
        </p:txBody>
      </p:sp>
      <p:sp>
        <p:nvSpPr>
          <p:cNvPr id="209" name="TextBox 6"/>
          <p:cNvSpPr/>
          <p:nvPr/>
        </p:nvSpPr>
        <p:spPr>
          <a:xfrm>
            <a:off x="571680" y="1981080"/>
            <a:ext cx="11048760" cy="57132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Specialized databases (e.g., Pinecone, Milvus) optimized specifically for storing high-dimensional vectors. They utilize advanced indexing algorithms (like HNSW) to perform rapid similarity comparisons across massive datasets at scale.</a:t>
            </a:r>
            <a:endParaRPr lang="en-US" sz="1500" b="0" u="none" strike="noStrike">
              <a:solidFill>
                <a:srgbClr val="000000"/>
              </a:solidFill>
              <a:effectLst/>
              <a:uFillTx/>
              <a:latin typeface="Arial"/>
            </a:endParaRPr>
          </a:p>
        </p:txBody>
      </p:sp>
      <p:sp>
        <p:nvSpPr>
          <p:cNvPr id="210" name="TextBox 7"/>
          <p:cNvSpPr/>
          <p:nvPr/>
        </p:nvSpPr>
        <p:spPr>
          <a:xfrm>
            <a:off x="571680" y="29811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Metadata Filtering</a:t>
            </a:r>
            <a:endParaRPr lang="en-US" sz="1950" b="0" u="none" strike="noStrike">
              <a:solidFill>
                <a:srgbClr val="000000"/>
              </a:solidFill>
              <a:effectLst/>
              <a:uFillTx/>
              <a:latin typeface="Arial"/>
            </a:endParaRPr>
          </a:p>
        </p:txBody>
      </p:sp>
      <p:sp>
        <p:nvSpPr>
          <p:cNvPr id="211" name="TextBox 8"/>
          <p:cNvSpPr/>
          <p:nvPr/>
        </p:nvSpPr>
        <p:spPr>
          <a:xfrm>
            <a:off x="571680" y="335268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practice of storing standard attributes (source names, document types, dates, access tiers) alongside the vector embeddings. This allows the system to rigidly pre-filter search results based on specific categories before executing the heavier semantic search.</a:t>
            </a:r>
            <a:endParaRPr lang="en-US" sz="1500" b="0" u="none" strike="noStrike">
              <a:solidFill>
                <a:srgbClr val="000000"/>
              </a:solidFill>
              <a:effectLst/>
              <a:uFillTx/>
              <a:latin typeface="Arial"/>
            </a:endParaRPr>
          </a:p>
        </p:txBody>
      </p:sp>
      <p:sp>
        <p:nvSpPr>
          <p:cNvPr id="212" name="TextBox 9"/>
          <p:cNvSpPr/>
          <p:nvPr/>
        </p:nvSpPr>
        <p:spPr>
          <a:xfrm>
            <a:off x="571680" y="44625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Top-k Retrieval</a:t>
            </a:r>
            <a:endParaRPr lang="en-US" sz="1950" b="0" u="none" strike="noStrike">
              <a:solidFill>
                <a:srgbClr val="000000"/>
              </a:solidFill>
              <a:effectLst/>
              <a:uFillTx/>
              <a:latin typeface="Arial"/>
            </a:endParaRPr>
          </a:p>
        </p:txBody>
      </p:sp>
      <p:sp>
        <p:nvSpPr>
          <p:cNvPr id="213" name="TextBox 10"/>
          <p:cNvSpPr/>
          <p:nvPr/>
        </p:nvSpPr>
        <p:spPr>
          <a:xfrm>
            <a:off x="571680" y="4962600"/>
            <a:ext cx="11048760" cy="57132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 strict configuration parameter dictating that the search engine should return exactly the top 'k' most similar vectors to the query. Tuning 'k' involves balancing the need for comprehensive context against the strict token limits of the LLM.</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4" name="Picture 1" descr="image.png"/>
          <p:cNvPicPr/>
          <p:nvPr/>
        </p:nvPicPr>
        <p:blipFill>
          <a:blip r:embed="rId1"/>
          <a:stretch/>
        </p:blipFill>
        <p:spPr>
          <a:xfrm>
            <a:off x="6381720" y="1366920"/>
            <a:ext cx="5238360" cy="4866840"/>
          </a:xfrm>
          <a:prstGeom prst="rect">
            <a:avLst/>
          </a:prstGeom>
          <a:noFill/>
          <a:ln w="0">
            <a:noFill/>
          </a:ln>
        </p:spPr>
      </p:pic>
      <p:pic>
        <p:nvPicPr>
          <p:cNvPr id="215" name="Picture 2" descr="image.png"/>
          <p:cNvPicPr/>
          <p:nvPr/>
        </p:nvPicPr>
        <p:blipFill>
          <a:blip r:embed="rId2"/>
          <a:stretch/>
        </p:blipFill>
        <p:spPr>
          <a:xfrm>
            <a:off x="6676920" y="3333600"/>
            <a:ext cx="2090520" cy="1418760"/>
          </a:xfrm>
          <a:prstGeom prst="rect">
            <a:avLst/>
          </a:prstGeom>
          <a:noFill/>
          <a:ln w="0">
            <a:noFill/>
          </a:ln>
        </p:spPr>
      </p:pic>
      <p:pic>
        <p:nvPicPr>
          <p:cNvPr id="216" name="Picture 3" descr="image.png"/>
          <p:cNvPicPr/>
          <p:nvPr/>
        </p:nvPicPr>
        <p:blipFill>
          <a:blip r:embed="rId3"/>
          <a:stretch/>
        </p:blipFill>
        <p:spPr>
          <a:xfrm>
            <a:off x="9206280" y="3333600"/>
            <a:ext cx="2118600" cy="1418760"/>
          </a:xfrm>
          <a:prstGeom prst="rect">
            <a:avLst/>
          </a:prstGeom>
          <a:noFill/>
          <a:ln w="0">
            <a:noFill/>
          </a:ln>
        </p:spPr>
      </p:pic>
      <p:pic>
        <p:nvPicPr>
          <p:cNvPr id="217" name="Picture 4" descr="image.png"/>
          <p:cNvPicPr/>
          <p:nvPr/>
        </p:nvPicPr>
        <p:blipFill>
          <a:blip r:embed="rId4"/>
          <a:stretch/>
        </p:blipFill>
        <p:spPr>
          <a:xfrm>
            <a:off x="8277120" y="2228760"/>
            <a:ext cx="1447560" cy="542520"/>
          </a:xfrm>
          <a:prstGeom prst="rect">
            <a:avLst/>
          </a:prstGeom>
          <a:noFill/>
          <a:ln w="0">
            <a:noFill/>
          </a:ln>
        </p:spPr>
      </p:pic>
      <p:pic>
        <p:nvPicPr>
          <p:cNvPr id="218" name="Picture 5" descr="image.png"/>
          <p:cNvPicPr/>
          <p:nvPr/>
        </p:nvPicPr>
        <p:blipFill>
          <a:blip r:embed="rId5"/>
          <a:stretch/>
        </p:blipFill>
        <p:spPr>
          <a:xfrm>
            <a:off x="7477200" y="5315040"/>
            <a:ext cx="3047760" cy="542520"/>
          </a:xfrm>
          <a:prstGeom prst="rect">
            <a:avLst/>
          </a:prstGeom>
          <a:noFill/>
          <a:ln w="0">
            <a:noFill/>
          </a:ln>
        </p:spPr>
      </p:pic>
      <p:pic>
        <p:nvPicPr>
          <p:cNvPr id="219" name="Picture 6" descr="image.png"/>
          <p:cNvPicPr/>
          <p:nvPr/>
        </p:nvPicPr>
        <p:blipFill>
          <a:blip r:embed="rId6"/>
          <a:stretch/>
        </p:blipFill>
        <p:spPr>
          <a:xfrm>
            <a:off x="6886440" y="3800520"/>
            <a:ext cx="1671480" cy="742680"/>
          </a:xfrm>
          <a:prstGeom prst="rect">
            <a:avLst/>
          </a:prstGeom>
          <a:noFill/>
          <a:ln w="0">
            <a:noFill/>
          </a:ln>
        </p:spPr>
      </p:pic>
      <p:pic>
        <p:nvPicPr>
          <p:cNvPr id="220" name="Picture 7" descr="image.png"/>
          <p:cNvPicPr/>
          <p:nvPr/>
        </p:nvPicPr>
        <p:blipFill>
          <a:blip r:embed="rId7"/>
          <a:stretch/>
        </p:blipFill>
        <p:spPr>
          <a:xfrm>
            <a:off x="9415800" y="3800520"/>
            <a:ext cx="1699560" cy="742680"/>
          </a:xfrm>
          <a:prstGeom prst="rect">
            <a:avLst/>
          </a:prstGeom>
          <a:noFill/>
          <a:ln w="0">
            <a:noFill/>
          </a:ln>
        </p:spPr>
      </p:pic>
      <p:sp>
        <p:nvSpPr>
          <p:cNvPr id="221" name="Rectangle 8"/>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2" name="TextBox 9"/>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12</a:t>
            </a:r>
            <a:endParaRPr lang="en-US" sz="1200" b="0" u="none" strike="noStrike">
              <a:solidFill>
                <a:srgbClr val="000000"/>
              </a:solidFill>
              <a:effectLst/>
              <a:uFillTx/>
              <a:latin typeface="Arial"/>
            </a:endParaRPr>
          </a:p>
        </p:txBody>
      </p:sp>
      <p:sp>
        <p:nvSpPr>
          <p:cNvPr id="223" name="Rectangle 10"/>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224" name="TextBox 11"/>
          <p:cNvSpPr/>
          <p:nvPr/>
        </p:nvSpPr>
        <p:spPr>
          <a:xfrm>
            <a:off x="571680" y="533520"/>
            <a:ext cx="799056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6. Vector Databases &amp; Retrieval (Part 2)</a:t>
            </a:r>
            <a:endParaRPr lang="en-US" sz="3150" b="0" u="none" strike="noStrike">
              <a:solidFill>
                <a:srgbClr val="000000"/>
              </a:solidFill>
              <a:effectLst/>
              <a:uFillTx/>
              <a:latin typeface="Arial"/>
            </a:endParaRPr>
          </a:p>
        </p:txBody>
      </p:sp>
      <p:sp>
        <p:nvSpPr>
          <p:cNvPr id="225" name="TextBox 12"/>
          <p:cNvSpPr/>
          <p:nvPr/>
        </p:nvSpPr>
        <p:spPr>
          <a:xfrm>
            <a:off x="571680" y="16095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Similarity Search</a:t>
            </a:r>
            <a:endParaRPr lang="en-US" sz="1950" b="0" u="none" strike="noStrike">
              <a:solidFill>
                <a:srgbClr val="000000"/>
              </a:solidFill>
              <a:effectLst/>
              <a:uFillTx/>
              <a:latin typeface="Arial"/>
            </a:endParaRPr>
          </a:p>
        </p:txBody>
      </p:sp>
      <p:sp>
        <p:nvSpPr>
          <p:cNvPr id="226" name="TextBox 13"/>
          <p:cNvSpPr/>
          <p:nvPr/>
        </p:nvSpPr>
        <p:spPr>
          <a:xfrm>
            <a:off x="571680" y="198108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Finding nearest neighbors in the vector space by relying on mathematical distance metrics (like Cosine or Euclidean) to rank relevance. It captures conceptual intent but may miss highly specific technical jargon.</a:t>
            </a:r>
            <a:endParaRPr lang="en-US" sz="1500" b="0" u="none" strike="noStrike">
              <a:solidFill>
                <a:srgbClr val="000000"/>
              </a:solidFill>
              <a:effectLst/>
              <a:uFillTx/>
              <a:latin typeface="Arial"/>
            </a:endParaRPr>
          </a:p>
        </p:txBody>
      </p:sp>
      <p:sp>
        <p:nvSpPr>
          <p:cNvPr id="227" name="TextBox 14"/>
          <p:cNvSpPr/>
          <p:nvPr/>
        </p:nvSpPr>
        <p:spPr>
          <a:xfrm>
            <a:off x="571680" y="345744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Hybrid Search</a:t>
            </a:r>
            <a:endParaRPr lang="en-US" sz="1950" b="0" u="none" strike="noStrike">
              <a:solidFill>
                <a:srgbClr val="000000"/>
              </a:solidFill>
              <a:effectLst/>
              <a:uFillTx/>
              <a:latin typeface="Arial"/>
            </a:endParaRPr>
          </a:p>
        </p:txBody>
      </p:sp>
      <p:sp>
        <p:nvSpPr>
          <p:cNvPr id="228" name="TextBox 15"/>
          <p:cNvSpPr/>
          <p:nvPr/>
        </p:nvSpPr>
        <p:spPr>
          <a:xfrm>
            <a:off x="571680" y="3828960"/>
            <a:ext cx="5238360" cy="142884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Combines traditional keyword-based search algorithms (BM25) with semantic vector search. By merging these scores, the system successfully captures both exact terminology and broader conceptual relationships, vastly improving overall retrieval accuracy.</a:t>
            </a:r>
            <a:endParaRPr lang="en-US" sz="1500" b="0" u="none" strike="noStrike">
              <a:solidFill>
                <a:srgbClr val="000000"/>
              </a:solidFill>
              <a:effectLst/>
              <a:uFillTx/>
              <a:latin typeface="Arial"/>
            </a:endParaRPr>
          </a:p>
        </p:txBody>
      </p:sp>
      <p:sp>
        <p:nvSpPr>
          <p:cNvPr id="229" name="TextBox 16"/>
          <p:cNvSpPr/>
          <p:nvPr/>
        </p:nvSpPr>
        <p:spPr>
          <a:xfrm>
            <a:off x="8911080" y="3905280"/>
            <a:ext cx="151920" cy="2757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
        <p:nvSpPr>
          <p:cNvPr id="230" name="TextBox 17"/>
          <p:cNvSpPr/>
          <p:nvPr/>
        </p:nvSpPr>
        <p:spPr>
          <a:xfrm>
            <a:off x="6886440" y="3543480"/>
            <a:ext cx="1671480" cy="161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50" b="0" u="none" strike="noStrike">
                <a:solidFill>
                  <a:srgbClr val="8B5A2B"/>
                </a:solidFill>
                <a:effectLst/>
                <a:uFillTx/>
                <a:latin typeface="Inter SemiBold"/>
              </a:rPr>
              <a:t>SEMANTIC MATCH</a:t>
            </a:r>
            <a:endParaRPr lang="en-US" sz="1050" b="0" u="none" strike="noStrike">
              <a:solidFill>
                <a:srgbClr val="000000"/>
              </a:solidFill>
              <a:effectLst/>
              <a:uFillTx/>
              <a:latin typeface="Arial"/>
            </a:endParaRPr>
          </a:p>
        </p:txBody>
      </p:sp>
      <p:sp>
        <p:nvSpPr>
          <p:cNvPr id="231" name="TextBox 18"/>
          <p:cNvSpPr/>
          <p:nvPr/>
        </p:nvSpPr>
        <p:spPr>
          <a:xfrm>
            <a:off x="9415800" y="3543480"/>
            <a:ext cx="1699560" cy="161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50" b="0" u="none" strike="noStrike">
                <a:solidFill>
                  <a:srgbClr val="8B5A2B"/>
                </a:solidFill>
                <a:effectLst/>
                <a:uFillTx/>
                <a:latin typeface="Inter SemiBold"/>
              </a:rPr>
              <a:t>KEYWORD MATCH</a:t>
            </a:r>
            <a:endParaRPr lang="en-US" sz="1050" b="0" u="none" strike="noStrike">
              <a:solidFill>
                <a:srgbClr val="000000"/>
              </a:solidFill>
              <a:effectLst/>
              <a:uFillTx/>
              <a:latin typeface="Arial"/>
            </a:endParaRPr>
          </a:p>
        </p:txBody>
      </p:sp>
      <p:sp>
        <p:nvSpPr>
          <p:cNvPr id="232" name="TextBox 19"/>
          <p:cNvSpPr/>
          <p:nvPr/>
        </p:nvSpPr>
        <p:spPr>
          <a:xfrm>
            <a:off x="8896320" y="2867040"/>
            <a:ext cx="20916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
        <p:nvSpPr>
          <p:cNvPr id="233" name="TextBox 20"/>
          <p:cNvSpPr/>
          <p:nvPr/>
        </p:nvSpPr>
        <p:spPr>
          <a:xfrm>
            <a:off x="8896320" y="4943520"/>
            <a:ext cx="20916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4"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5" name="TextBox 2"/>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13</a:t>
            </a:r>
            <a:endParaRPr lang="en-US" sz="1200" b="0" u="none" strike="noStrike">
              <a:solidFill>
                <a:srgbClr val="000000"/>
              </a:solidFill>
              <a:effectLst/>
              <a:uFillTx/>
              <a:latin typeface="Arial"/>
            </a:endParaRPr>
          </a:p>
        </p:txBody>
      </p:sp>
      <p:sp>
        <p:nvSpPr>
          <p:cNvPr id="236" name="Rectangle 3"/>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237" name="TextBox 4"/>
          <p:cNvSpPr/>
          <p:nvPr/>
        </p:nvSpPr>
        <p:spPr>
          <a:xfrm>
            <a:off x="571680" y="533520"/>
            <a:ext cx="662040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7. RAG Evaluation &amp; Optimization</a:t>
            </a:r>
            <a:endParaRPr lang="en-US" sz="3150" b="0" u="none" strike="noStrike">
              <a:solidFill>
                <a:srgbClr val="000000"/>
              </a:solidFill>
              <a:effectLst/>
              <a:uFillTx/>
              <a:latin typeface="Arial"/>
            </a:endParaRPr>
          </a:p>
        </p:txBody>
      </p:sp>
      <p:sp>
        <p:nvSpPr>
          <p:cNvPr id="238" name="TextBox 5"/>
          <p:cNvSpPr/>
          <p:nvPr/>
        </p:nvSpPr>
        <p:spPr>
          <a:xfrm>
            <a:off x="571680" y="1609560"/>
            <a:ext cx="540036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Retrieval Quality &amp; Relevance</a:t>
            </a:r>
            <a:endParaRPr lang="en-US" sz="1950" b="0" u="none" strike="noStrike">
              <a:solidFill>
                <a:srgbClr val="000000"/>
              </a:solidFill>
              <a:effectLst/>
              <a:uFillTx/>
              <a:latin typeface="Arial"/>
            </a:endParaRPr>
          </a:p>
        </p:txBody>
      </p:sp>
      <p:sp>
        <p:nvSpPr>
          <p:cNvPr id="239" name="TextBox 6"/>
          <p:cNvSpPr/>
          <p:nvPr/>
        </p:nvSpPr>
        <p:spPr>
          <a:xfrm>
            <a:off x="571680" y="1981080"/>
            <a:ext cx="514332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Measuring precision (the accuracy of retrieved chunks) and recall (capturing all relevant chunks). High relevance ensures the LLM is not distracted by extraneous, conflicting data during answer generation.</a:t>
            </a:r>
            <a:endParaRPr lang="en-US" sz="1500" b="0" u="none" strike="noStrike">
              <a:solidFill>
                <a:srgbClr val="000000"/>
              </a:solidFill>
              <a:effectLst/>
              <a:uFillTx/>
              <a:latin typeface="Arial"/>
            </a:endParaRPr>
          </a:p>
        </p:txBody>
      </p:sp>
      <p:sp>
        <p:nvSpPr>
          <p:cNvPr id="240" name="TextBox 7"/>
          <p:cNvSpPr/>
          <p:nvPr/>
        </p:nvSpPr>
        <p:spPr>
          <a:xfrm>
            <a:off x="6477120" y="1609560"/>
            <a:ext cx="540036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Chunk-Size Tuning</a:t>
            </a:r>
            <a:endParaRPr lang="en-US" sz="1950" b="0" u="none" strike="noStrike">
              <a:solidFill>
                <a:srgbClr val="000000"/>
              </a:solidFill>
              <a:effectLst/>
              <a:uFillTx/>
              <a:latin typeface="Arial"/>
            </a:endParaRPr>
          </a:p>
        </p:txBody>
      </p:sp>
      <p:sp>
        <p:nvSpPr>
          <p:cNvPr id="241" name="TextBox 8"/>
          <p:cNvSpPr/>
          <p:nvPr/>
        </p:nvSpPr>
        <p:spPr>
          <a:xfrm>
            <a:off x="6477120" y="1981080"/>
            <a:ext cx="514332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iterative process of adjusting the token limit per text split and overlap size to find the optimal balance. Proper tuning prevents context dilution while maintaining specific detail extraction for the model.</a:t>
            </a:r>
            <a:endParaRPr lang="en-US" sz="1500" b="0" u="none" strike="noStrike">
              <a:solidFill>
                <a:srgbClr val="000000"/>
              </a:solidFill>
              <a:effectLst/>
              <a:uFillTx/>
              <a:latin typeface="Arial"/>
            </a:endParaRPr>
          </a:p>
        </p:txBody>
      </p:sp>
      <p:sp>
        <p:nvSpPr>
          <p:cNvPr id="242" name="TextBox 9"/>
          <p:cNvSpPr/>
          <p:nvPr/>
        </p:nvSpPr>
        <p:spPr>
          <a:xfrm>
            <a:off x="571680" y="3600360"/>
            <a:ext cx="540036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Hallucination Checks</a:t>
            </a:r>
            <a:endParaRPr lang="en-US" sz="1950" b="0" u="none" strike="noStrike">
              <a:solidFill>
                <a:srgbClr val="000000"/>
              </a:solidFill>
              <a:effectLst/>
              <a:uFillTx/>
              <a:latin typeface="Arial"/>
            </a:endParaRPr>
          </a:p>
        </p:txBody>
      </p:sp>
      <p:sp>
        <p:nvSpPr>
          <p:cNvPr id="243" name="TextBox 10"/>
          <p:cNvSpPr/>
          <p:nvPr/>
        </p:nvSpPr>
        <p:spPr>
          <a:xfrm>
            <a:off x="571680" y="3971880"/>
            <a:ext cx="514332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Automated evaluation steps implemented post-generation to verify that the final answer contains no facts absent from the retrieved chunks, ensuring high fidelity to the source documents.</a:t>
            </a:r>
            <a:endParaRPr lang="en-US" sz="1500" b="0" u="none" strike="noStrike">
              <a:solidFill>
                <a:srgbClr val="000000"/>
              </a:solidFill>
              <a:effectLst/>
              <a:uFillTx/>
              <a:latin typeface="Arial"/>
            </a:endParaRPr>
          </a:p>
        </p:txBody>
      </p:sp>
      <p:sp>
        <p:nvSpPr>
          <p:cNvPr id="244" name="TextBox 11"/>
          <p:cNvSpPr/>
          <p:nvPr/>
        </p:nvSpPr>
        <p:spPr>
          <a:xfrm>
            <a:off x="6477120" y="3600360"/>
            <a:ext cx="540036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Grounding Checks</a:t>
            </a:r>
            <a:endParaRPr lang="en-US" sz="1950" b="0" u="none" strike="noStrike">
              <a:solidFill>
                <a:srgbClr val="000000"/>
              </a:solidFill>
              <a:effectLst/>
              <a:uFillTx/>
              <a:latin typeface="Arial"/>
            </a:endParaRPr>
          </a:p>
        </p:txBody>
      </p:sp>
      <p:sp>
        <p:nvSpPr>
          <p:cNvPr id="245" name="TextBox 12"/>
          <p:cNvSpPr/>
          <p:nvPr/>
        </p:nvSpPr>
        <p:spPr>
          <a:xfrm>
            <a:off x="6477120" y="3971880"/>
            <a:ext cx="514332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process of enforcing traceability, verifying that every claim made by the LLM can be explicitly cited back to a specific sentence in the injected context, eliminating fabricated responses.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46" name="Picture 1" descr="image.png"/>
          <p:cNvPicPr/>
          <p:nvPr/>
        </p:nvPicPr>
        <p:blipFill>
          <a:blip r:embed="rId1"/>
          <a:stretch/>
        </p:blipFill>
        <p:spPr>
          <a:xfrm>
            <a:off x="6460920" y="1302120"/>
            <a:ext cx="5238360" cy="5400360"/>
          </a:xfrm>
          <a:prstGeom prst="rect">
            <a:avLst/>
          </a:prstGeom>
          <a:noFill/>
          <a:ln w="0">
            <a:noFill/>
          </a:ln>
        </p:spPr>
      </p:pic>
      <p:pic>
        <p:nvPicPr>
          <p:cNvPr id="247" name="Picture 2" descr="image.png"/>
          <p:cNvPicPr/>
          <p:nvPr/>
        </p:nvPicPr>
        <p:blipFill>
          <a:blip r:embed="rId2"/>
          <a:stretch/>
        </p:blipFill>
        <p:spPr>
          <a:xfrm>
            <a:off x="6676920" y="2690640"/>
            <a:ext cx="4647960" cy="3238200"/>
          </a:xfrm>
          <a:prstGeom prst="rect">
            <a:avLst/>
          </a:prstGeom>
          <a:noFill/>
          <a:ln w="0">
            <a:noFill/>
          </a:ln>
        </p:spPr>
      </p:pic>
      <p:pic>
        <p:nvPicPr>
          <p:cNvPr id="248" name="Picture 3" descr="image.png"/>
          <p:cNvPicPr/>
          <p:nvPr/>
        </p:nvPicPr>
        <p:blipFill>
          <a:blip r:embed="rId3"/>
          <a:stretch/>
        </p:blipFill>
        <p:spPr>
          <a:xfrm>
            <a:off x="6886440" y="3157560"/>
            <a:ext cx="4228920" cy="542520"/>
          </a:xfrm>
          <a:prstGeom prst="rect">
            <a:avLst/>
          </a:prstGeom>
          <a:noFill/>
          <a:ln w="0">
            <a:noFill/>
          </a:ln>
        </p:spPr>
      </p:pic>
      <p:pic>
        <p:nvPicPr>
          <p:cNvPr id="249" name="Picture 4" descr="image.png"/>
          <p:cNvPicPr/>
          <p:nvPr/>
        </p:nvPicPr>
        <p:blipFill>
          <a:blip r:embed="rId4"/>
          <a:stretch/>
        </p:blipFill>
        <p:spPr>
          <a:xfrm>
            <a:off x="6886440" y="4167360"/>
            <a:ext cx="4228920" cy="542520"/>
          </a:xfrm>
          <a:prstGeom prst="rect">
            <a:avLst/>
          </a:prstGeom>
          <a:noFill/>
          <a:ln w="0">
            <a:noFill/>
          </a:ln>
        </p:spPr>
      </p:pic>
      <p:pic>
        <p:nvPicPr>
          <p:cNvPr id="250" name="Picture 5" descr="image.png"/>
          <p:cNvPicPr/>
          <p:nvPr/>
        </p:nvPicPr>
        <p:blipFill>
          <a:blip r:embed="rId5"/>
          <a:stretch/>
        </p:blipFill>
        <p:spPr>
          <a:xfrm>
            <a:off x="6886440" y="5176800"/>
            <a:ext cx="4228920" cy="542520"/>
          </a:xfrm>
          <a:prstGeom prst="rect">
            <a:avLst/>
          </a:prstGeom>
          <a:noFill/>
          <a:ln w="0">
            <a:noFill/>
          </a:ln>
        </p:spPr>
      </p:pic>
      <p:sp>
        <p:nvSpPr>
          <p:cNvPr id="251" name="Rectangle 6"/>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2" name="TextBox 7"/>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14</a:t>
            </a:r>
            <a:endParaRPr lang="en-US" sz="1200" b="0" u="none" strike="noStrike">
              <a:solidFill>
                <a:srgbClr val="000000"/>
              </a:solidFill>
              <a:effectLst/>
              <a:uFillTx/>
              <a:latin typeface="Arial"/>
            </a:endParaRPr>
          </a:p>
        </p:txBody>
      </p:sp>
      <p:sp>
        <p:nvSpPr>
          <p:cNvPr id="253" name="Rectangle 8"/>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254" name="TextBox 9"/>
          <p:cNvSpPr/>
          <p:nvPr/>
        </p:nvSpPr>
        <p:spPr>
          <a:xfrm>
            <a:off x="571680" y="533520"/>
            <a:ext cx="491040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8. AI Agent Architecture</a:t>
            </a:r>
            <a:endParaRPr lang="en-US" sz="3150" b="0" u="none" strike="noStrike">
              <a:solidFill>
                <a:srgbClr val="000000"/>
              </a:solidFill>
              <a:effectLst/>
              <a:uFillTx/>
              <a:latin typeface="Arial"/>
            </a:endParaRPr>
          </a:p>
        </p:txBody>
      </p:sp>
      <p:sp>
        <p:nvSpPr>
          <p:cNvPr id="255" name="TextBox 10"/>
          <p:cNvSpPr/>
          <p:nvPr/>
        </p:nvSpPr>
        <p:spPr>
          <a:xfrm>
            <a:off x="571680" y="16095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Agents vs Workflows</a:t>
            </a:r>
            <a:endParaRPr lang="en-US" sz="1950" b="0" u="none" strike="noStrike">
              <a:solidFill>
                <a:srgbClr val="000000"/>
              </a:solidFill>
              <a:effectLst/>
              <a:uFillTx/>
              <a:latin typeface="Arial"/>
            </a:endParaRPr>
          </a:p>
        </p:txBody>
      </p:sp>
      <p:sp>
        <p:nvSpPr>
          <p:cNvPr id="256" name="TextBox 11"/>
          <p:cNvSpPr/>
          <p:nvPr/>
        </p:nvSpPr>
        <p:spPr>
          <a:xfrm>
            <a:off x="571680" y="198108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Workflows follow rigid, predefined paths. AI Agents autonomously determine the sequence of actions, dynamically reacting to intermediate outputs to achieve a complex goal.</a:t>
            </a:r>
            <a:endParaRPr lang="en-US" sz="1500" b="0" u="none" strike="noStrike">
              <a:solidFill>
                <a:srgbClr val="000000"/>
              </a:solidFill>
              <a:effectLst/>
              <a:uFillTx/>
              <a:latin typeface="Arial"/>
            </a:endParaRPr>
          </a:p>
        </p:txBody>
      </p:sp>
      <p:sp>
        <p:nvSpPr>
          <p:cNvPr id="257" name="TextBox 12"/>
          <p:cNvSpPr/>
          <p:nvPr/>
        </p:nvSpPr>
        <p:spPr>
          <a:xfrm>
            <a:off x="571680" y="330984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Planning &amp; Tool Selection</a:t>
            </a:r>
            <a:endParaRPr lang="en-US" sz="1950" b="0" u="none" strike="noStrike">
              <a:solidFill>
                <a:srgbClr val="000000"/>
              </a:solidFill>
              <a:effectLst/>
              <a:uFillTx/>
              <a:latin typeface="Arial"/>
            </a:endParaRPr>
          </a:p>
        </p:txBody>
      </p:sp>
      <p:sp>
        <p:nvSpPr>
          <p:cNvPr id="258" name="TextBox 13"/>
          <p:cNvSpPr/>
          <p:nvPr/>
        </p:nvSpPr>
        <p:spPr>
          <a:xfrm>
            <a:off x="571680" y="369792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cognitive step where the agent breaks down a complex request into a strategy, evaluates its available toolkit, and logically selects the appropriate function based on the immediate sub-task.</a:t>
            </a:r>
            <a:endParaRPr lang="en-US" sz="1500" b="0" u="none" strike="noStrike">
              <a:solidFill>
                <a:srgbClr val="000000"/>
              </a:solidFill>
              <a:effectLst/>
              <a:uFillTx/>
              <a:latin typeface="Arial"/>
            </a:endParaRPr>
          </a:p>
        </p:txBody>
      </p:sp>
      <p:sp>
        <p:nvSpPr>
          <p:cNvPr id="259" name="TextBox 14"/>
          <p:cNvSpPr/>
          <p:nvPr/>
        </p:nvSpPr>
        <p:spPr>
          <a:xfrm>
            <a:off x="571320" y="493344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Memory/State &amp; Multi-step Execution</a:t>
            </a:r>
            <a:endParaRPr lang="en-US" sz="1950" b="0" u="none" strike="noStrike">
              <a:solidFill>
                <a:srgbClr val="000000"/>
              </a:solidFill>
              <a:effectLst/>
              <a:uFillTx/>
              <a:latin typeface="Arial"/>
            </a:endParaRPr>
          </a:p>
        </p:txBody>
      </p:sp>
      <p:sp>
        <p:nvSpPr>
          <p:cNvPr id="260" name="TextBox 15"/>
          <p:cNvSpPr/>
          <p:nvPr/>
        </p:nvSpPr>
        <p:spPr>
          <a:xfrm>
            <a:off x="571680" y="532152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Agents maintain a running state of previous actions and context. Multi-step execution involves iterating through a continuous cycle of thought, action, and observation until the overarching goal is met.</a:t>
            </a:r>
            <a:endParaRPr lang="en-US" sz="1500" b="0" u="none" strike="noStrike">
              <a:solidFill>
                <a:srgbClr val="000000"/>
              </a:solidFill>
              <a:effectLst/>
              <a:uFillTx/>
              <a:latin typeface="Arial"/>
            </a:endParaRPr>
          </a:p>
        </p:txBody>
      </p:sp>
      <p:sp>
        <p:nvSpPr>
          <p:cNvPr id="261" name="TextBox 16"/>
          <p:cNvSpPr/>
          <p:nvPr/>
        </p:nvSpPr>
        <p:spPr>
          <a:xfrm>
            <a:off x="6886440" y="2900520"/>
            <a:ext cx="4228920" cy="161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50" b="0" u="none" strike="noStrike">
                <a:solidFill>
                  <a:srgbClr val="8B5A2B"/>
                </a:solidFill>
                <a:effectLst/>
                <a:uFillTx/>
                <a:latin typeface="Inter SemiBold"/>
              </a:rPr>
              <a:t>AGENT COGNITIVE LOOP</a:t>
            </a:r>
            <a:endParaRPr lang="en-US" sz="1050" b="0" u="none" strike="noStrike">
              <a:solidFill>
                <a:srgbClr val="000000"/>
              </a:solidFill>
              <a:effectLst/>
              <a:uFillTx/>
              <a:latin typeface="Arial"/>
            </a:endParaRPr>
          </a:p>
        </p:txBody>
      </p:sp>
      <p:sp>
        <p:nvSpPr>
          <p:cNvPr id="262" name="Rectangle 17"/>
          <p:cNvSpPr/>
          <p:nvPr/>
        </p:nvSpPr>
        <p:spPr>
          <a:xfrm>
            <a:off x="10829880" y="3271680"/>
            <a:ext cx="356760" cy="2161440"/>
          </a:xfrm>
          <a:prstGeom prst="rect">
            <a:avLst/>
          </a:prstGeom>
          <a:noFill/>
          <a:ln w="19050">
            <a:solidFill>
              <a:srgbClr val="8B5A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3" name="TextBox 18"/>
          <p:cNvSpPr/>
          <p:nvPr/>
        </p:nvSpPr>
        <p:spPr>
          <a:xfrm>
            <a:off x="10698840" y="3296520"/>
            <a:ext cx="190080" cy="25668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500" b="0" u="none" strike="noStrike">
                <a:solidFill>
                  <a:srgbClr val="8B5A2B"/>
                </a:solidFill>
                <a:effectLst/>
                <a:uFillTx/>
                <a:latin typeface="Inter"/>
              </a:rPr>
              <a:t>◀</a:t>
            </a:r>
            <a:endParaRPr lang="en-US" sz="1500" b="0" u="none" strike="noStrike">
              <a:solidFill>
                <a:srgbClr val="000000"/>
              </a:solidFill>
              <a:effectLst/>
              <a:uFillTx/>
              <a:latin typeface="Arial"/>
            </a:endParaRPr>
          </a:p>
        </p:txBody>
      </p:sp>
      <p:sp>
        <p:nvSpPr>
          <p:cNvPr id="264" name="TextBox 19"/>
          <p:cNvSpPr/>
          <p:nvPr/>
        </p:nvSpPr>
        <p:spPr>
          <a:xfrm>
            <a:off x="6886440" y="3795840"/>
            <a:ext cx="422892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
        <p:nvSpPr>
          <p:cNvPr id="265" name="TextBox 20"/>
          <p:cNvSpPr/>
          <p:nvPr/>
        </p:nvSpPr>
        <p:spPr>
          <a:xfrm>
            <a:off x="6886440" y="4805280"/>
            <a:ext cx="422892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6"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7" name="TextBox 2"/>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15</a:t>
            </a:r>
            <a:endParaRPr lang="en-US" sz="1200" b="0" u="none" strike="noStrike">
              <a:solidFill>
                <a:srgbClr val="000000"/>
              </a:solidFill>
              <a:effectLst/>
              <a:uFillTx/>
              <a:latin typeface="Arial"/>
            </a:endParaRPr>
          </a:p>
        </p:txBody>
      </p:sp>
      <p:sp>
        <p:nvSpPr>
          <p:cNvPr id="268" name="Rectangle 3"/>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269" name="TextBox 4"/>
          <p:cNvSpPr/>
          <p:nvPr/>
        </p:nvSpPr>
        <p:spPr>
          <a:xfrm>
            <a:off x="571680" y="533520"/>
            <a:ext cx="503028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9. Agent Tool Integration</a:t>
            </a:r>
            <a:endParaRPr lang="en-US" sz="3150" b="0" u="none" strike="noStrike">
              <a:solidFill>
                <a:srgbClr val="000000"/>
              </a:solidFill>
              <a:effectLst/>
              <a:uFillTx/>
              <a:latin typeface="Arial"/>
            </a:endParaRPr>
          </a:p>
        </p:txBody>
      </p:sp>
      <p:sp>
        <p:nvSpPr>
          <p:cNvPr id="270" name="TextBox 5"/>
          <p:cNvSpPr/>
          <p:nvPr/>
        </p:nvSpPr>
        <p:spPr>
          <a:xfrm>
            <a:off x="571680" y="160956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Connecting Agents to APIs, Databases, &amp; Business Functions</a:t>
            </a:r>
            <a:endParaRPr lang="en-US" sz="1950" b="0" u="none" strike="noStrike">
              <a:solidFill>
                <a:srgbClr val="000000"/>
              </a:solidFill>
              <a:effectLst/>
              <a:uFillTx/>
              <a:latin typeface="Arial"/>
            </a:endParaRPr>
          </a:p>
        </p:txBody>
      </p:sp>
      <p:sp>
        <p:nvSpPr>
          <p:cNvPr id="271" name="TextBox 6"/>
          <p:cNvSpPr/>
          <p:nvPr/>
        </p:nvSpPr>
        <p:spPr>
          <a:xfrm>
            <a:off x="571680" y="198108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Agents interact with the real world by executing mapped functions that hit REST APIs, execute SQL queries against secure databases, or trigger proprietary internal business logic. This transforms passive language models into active system operators.</a:t>
            </a:r>
            <a:endParaRPr lang="en-US" sz="1500" b="0" u="none" strike="noStrike">
              <a:solidFill>
                <a:srgbClr val="000000"/>
              </a:solidFill>
              <a:effectLst/>
              <a:uFillTx/>
              <a:latin typeface="Arial"/>
            </a:endParaRPr>
          </a:p>
        </p:txBody>
      </p:sp>
      <p:sp>
        <p:nvSpPr>
          <p:cNvPr id="272" name="TextBox 7"/>
          <p:cNvSpPr/>
          <p:nvPr/>
        </p:nvSpPr>
        <p:spPr>
          <a:xfrm>
            <a:off x="571680" y="326700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Authentication</a:t>
            </a:r>
            <a:endParaRPr lang="en-US" sz="1950" b="0" u="none" strike="noStrike">
              <a:solidFill>
                <a:srgbClr val="000000"/>
              </a:solidFill>
              <a:effectLst/>
              <a:uFillTx/>
              <a:latin typeface="Arial"/>
            </a:endParaRPr>
          </a:p>
        </p:txBody>
      </p:sp>
      <p:sp>
        <p:nvSpPr>
          <p:cNvPr id="273" name="TextBox 8"/>
          <p:cNvSpPr/>
          <p:nvPr/>
        </p:nvSpPr>
        <p:spPr>
          <a:xfrm>
            <a:off x="571680" y="363852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The critical security layer managing how agents access external systems. Application frameworks securely inject API keys, OAuth tokens, and role-based access controls during tool execution, ensuring the agent operates strictly within enterprise permission boundaries.</a:t>
            </a:r>
            <a:endParaRPr lang="en-US" sz="1500" b="0" u="none" strike="noStrike">
              <a:solidFill>
                <a:srgbClr val="000000"/>
              </a:solidFill>
              <a:effectLst/>
              <a:uFillTx/>
              <a:latin typeface="Arial"/>
            </a:endParaRPr>
          </a:p>
        </p:txBody>
      </p:sp>
      <p:sp>
        <p:nvSpPr>
          <p:cNvPr id="274" name="TextBox 9"/>
          <p:cNvSpPr/>
          <p:nvPr/>
        </p:nvSpPr>
        <p:spPr>
          <a:xfrm>
            <a:off x="571680" y="4924440"/>
            <a:ext cx="1160100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Error Handling</a:t>
            </a:r>
            <a:endParaRPr lang="en-US" sz="1950" b="0" u="none" strike="noStrike">
              <a:solidFill>
                <a:srgbClr val="000000"/>
              </a:solidFill>
              <a:effectLst/>
              <a:uFillTx/>
              <a:latin typeface="Arial"/>
            </a:endParaRPr>
          </a:p>
        </p:txBody>
      </p:sp>
      <p:sp>
        <p:nvSpPr>
          <p:cNvPr id="275" name="TextBox 10"/>
          <p:cNvSpPr/>
          <p:nvPr/>
        </p:nvSpPr>
        <p:spPr>
          <a:xfrm>
            <a:off x="571680" y="5295960"/>
            <a:ext cx="110487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Designing robust systems where the host application catches API failures, timeouts, or bad responses and feeds the literal error message back to the agent. This allows the LLM to autonomously interpret the error, adjust its parameters, and attempt a self-correction.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6" name="Picture 1" descr="image.png"/>
          <p:cNvPicPr/>
          <p:nvPr/>
        </p:nvPicPr>
        <p:blipFill>
          <a:blip r:embed="rId1"/>
          <a:stretch/>
        </p:blipFill>
        <p:spPr>
          <a:xfrm>
            <a:off x="6381720" y="1609560"/>
            <a:ext cx="5238360" cy="5114520"/>
          </a:xfrm>
          <a:prstGeom prst="rect">
            <a:avLst/>
          </a:prstGeom>
          <a:noFill/>
          <a:ln w="0">
            <a:noFill/>
          </a:ln>
        </p:spPr>
      </p:pic>
      <p:pic>
        <p:nvPicPr>
          <p:cNvPr id="277" name="Picture 2" descr="image.png"/>
          <p:cNvPicPr/>
          <p:nvPr/>
        </p:nvPicPr>
        <p:blipFill>
          <a:blip r:embed="rId2"/>
          <a:stretch/>
        </p:blipFill>
        <p:spPr>
          <a:xfrm>
            <a:off x="6676920" y="3681360"/>
            <a:ext cx="4647960" cy="971280"/>
          </a:xfrm>
          <a:prstGeom prst="rect">
            <a:avLst/>
          </a:prstGeom>
          <a:noFill/>
          <a:ln w="0">
            <a:noFill/>
          </a:ln>
        </p:spPr>
      </p:pic>
      <p:pic>
        <p:nvPicPr>
          <p:cNvPr id="278" name="Picture 3" descr="image.png"/>
          <p:cNvPicPr/>
          <p:nvPr/>
        </p:nvPicPr>
        <p:blipFill>
          <a:blip r:embed="rId3"/>
          <a:stretch/>
        </p:blipFill>
        <p:spPr>
          <a:xfrm>
            <a:off x="6676920" y="2576520"/>
            <a:ext cx="4647960" cy="542520"/>
          </a:xfrm>
          <a:prstGeom prst="rect">
            <a:avLst/>
          </a:prstGeom>
          <a:noFill/>
          <a:ln w="0">
            <a:noFill/>
          </a:ln>
        </p:spPr>
      </p:pic>
      <p:pic>
        <p:nvPicPr>
          <p:cNvPr id="279" name="Picture 4" descr="image.png"/>
          <p:cNvPicPr/>
          <p:nvPr/>
        </p:nvPicPr>
        <p:blipFill>
          <a:blip r:embed="rId4"/>
          <a:stretch/>
        </p:blipFill>
        <p:spPr>
          <a:xfrm>
            <a:off x="6676920" y="5214960"/>
            <a:ext cx="4647960" cy="542520"/>
          </a:xfrm>
          <a:prstGeom prst="rect">
            <a:avLst/>
          </a:prstGeom>
          <a:noFill/>
          <a:ln w="0">
            <a:noFill/>
          </a:ln>
        </p:spPr>
      </p:pic>
      <p:pic>
        <p:nvPicPr>
          <p:cNvPr id="280" name="Picture 5" descr="image.png"/>
          <p:cNvPicPr/>
          <p:nvPr/>
        </p:nvPicPr>
        <p:blipFill>
          <a:blip r:embed="rId5"/>
          <a:stretch/>
        </p:blipFill>
        <p:spPr>
          <a:xfrm>
            <a:off x="7753320" y="4100400"/>
            <a:ext cx="590040" cy="390240"/>
          </a:xfrm>
          <a:prstGeom prst="rect">
            <a:avLst/>
          </a:prstGeom>
          <a:noFill/>
          <a:ln w="0">
            <a:noFill/>
          </a:ln>
        </p:spPr>
      </p:pic>
      <p:pic>
        <p:nvPicPr>
          <p:cNvPr id="281" name="Picture 6" descr="image.png"/>
          <p:cNvPicPr/>
          <p:nvPr/>
        </p:nvPicPr>
        <p:blipFill>
          <a:blip r:embed="rId6"/>
          <a:stretch/>
        </p:blipFill>
        <p:spPr>
          <a:xfrm>
            <a:off x="8439120" y="4100400"/>
            <a:ext cx="923400" cy="390240"/>
          </a:xfrm>
          <a:prstGeom prst="rect">
            <a:avLst/>
          </a:prstGeom>
          <a:noFill/>
          <a:ln w="0">
            <a:noFill/>
          </a:ln>
        </p:spPr>
      </p:pic>
      <p:pic>
        <p:nvPicPr>
          <p:cNvPr id="282" name="Picture 7" descr="image.png"/>
          <p:cNvPicPr/>
          <p:nvPr/>
        </p:nvPicPr>
        <p:blipFill>
          <a:blip r:embed="rId7"/>
          <a:stretch/>
        </p:blipFill>
        <p:spPr>
          <a:xfrm>
            <a:off x="9458280" y="4100400"/>
            <a:ext cx="790200" cy="390240"/>
          </a:xfrm>
          <a:prstGeom prst="rect">
            <a:avLst/>
          </a:prstGeom>
          <a:noFill/>
          <a:ln w="0">
            <a:noFill/>
          </a:ln>
        </p:spPr>
      </p:pic>
      <p:sp>
        <p:nvSpPr>
          <p:cNvPr id="283" name="Rectangle 8"/>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4" name="TextBox 9"/>
          <p:cNvSpPr/>
          <p:nvPr/>
        </p:nvSpPr>
        <p:spPr>
          <a:xfrm>
            <a:off x="571680" y="914400"/>
            <a:ext cx="11048760" cy="123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A8A29E"/>
                </a:solidFill>
                <a:effectLst/>
                <a:uFillTx/>
                <a:latin typeface="Inter SemiBold"/>
              </a:rPr>
              <a:t>16</a:t>
            </a:r>
            <a:endParaRPr lang="en-US" sz="1200" b="0" u="none" strike="noStrike">
              <a:solidFill>
                <a:srgbClr val="000000"/>
              </a:solidFill>
              <a:effectLst/>
              <a:uFillTx/>
              <a:latin typeface="Arial"/>
            </a:endParaRPr>
          </a:p>
        </p:txBody>
      </p:sp>
      <p:sp>
        <p:nvSpPr>
          <p:cNvPr id="285" name="Rectangle 10"/>
          <p:cNvSpPr/>
          <p:nvPr/>
        </p:nvSpPr>
        <p:spPr>
          <a:xfrm>
            <a:off x="0" y="1209600"/>
            <a:ext cx="12191760" cy="18720"/>
          </a:xfrm>
          <a:prstGeom prst="rect">
            <a:avLst/>
          </a:prstGeom>
          <a:solidFill>
            <a:srgbClr val="F5EF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5920" rIns="90000" bIns="-25920" anchor="ctr">
            <a:noAutofit/>
          </a:bodyPr>
          <a:p>
            <a:endParaRPr lang="en-US" sz="1800" b="0" u="none" strike="noStrike">
              <a:solidFill>
                <a:schemeClr val="lt1"/>
              </a:solidFill>
              <a:effectLst/>
              <a:uFillTx/>
              <a:latin typeface="Calibri"/>
            </a:endParaRPr>
          </a:p>
        </p:txBody>
      </p:sp>
      <p:sp>
        <p:nvSpPr>
          <p:cNvPr id="286" name="TextBox 11"/>
          <p:cNvSpPr/>
          <p:nvPr/>
        </p:nvSpPr>
        <p:spPr>
          <a:xfrm>
            <a:off x="571680" y="533520"/>
            <a:ext cx="6890400" cy="485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150" b="1" u="none" strike="noStrike">
                <a:solidFill>
                  <a:srgbClr val="2C241B"/>
                </a:solidFill>
                <a:effectLst/>
                <a:uFillTx/>
                <a:latin typeface="Inter"/>
              </a:rPr>
              <a:t>10. MCP (Model Context Protocol)</a:t>
            </a:r>
            <a:endParaRPr lang="en-US" sz="3150" b="0" u="none" strike="noStrike">
              <a:solidFill>
                <a:srgbClr val="000000"/>
              </a:solidFill>
              <a:effectLst/>
              <a:uFillTx/>
              <a:latin typeface="Arial"/>
            </a:endParaRPr>
          </a:p>
        </p:txBody>
      </p:sp>
      <p:sp>
        <p:nvSpPr>
          <p:cNvPr id="287" name="TextBox 12"/>
          <p:cNvSpPr/>
          <p:nvPr/>
        </p:nvSpPr>
        <p:spPr>
          <a:xfrm>
            <a:off x="571680" y="16095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MCP Client/Server Architecture</a:t>
            </a:r>
            <a:endParaRPr lang="en-US" sz="1950" b="0" u="none" strike="noStrike">
              <a:solidFill>
                <a:srgbClr val="000000"/>
              </a:solidFill>
              <a:effectLst/>
              <a:uFillTx/>
              <a:latin typeface="Arial"/>
            </a:endParaRPr>
          </a:p>
        </p:txBody>
      </p:sp>
      <p:sp>
        <p:nvSpPr>
          <p:cNvPr id="288" name="TextBox 13"/>
          <p:cNvSpPr/>
          <p:nvPr/>
        </p:nvSpPr>
        <p:spPr>
          <a:xfrm>
            <a:off x="571680" y="1981080"/>
            <a:ext cx="5238360" cy="85716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A standardized protocol separating the AI application (Client) from external systems (Server). It unifies how agents securely access different external resources.</a:t>
            </a:r>
            <a:endParaRPr lang="en-US" sz="1500" b="0" u="none" strike="noStrike">
              <a:solidFill>
                <a:srgbClr val="000000"/>
              </a:solidFill>
              <a:effectLst/>
              <a:uFillTx/>
              <a:latin typeface="Arial"/>
            </a:endParaRPr>
          </a:p>
        </p:txBody>
      </p:sp>
      <p:sp>
        <p:nvSpPr>
          <p:cNvPr id="289" name="TextBox 14"/>
          <p:cNvSpPr/>
          <p:nvPr/>
        </p:nvSpPr>
        <p:spPr>
          <a:xfrm>
            <a:off x="571680" y="31719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Tools, Resources, &amp; Prompts</a:t>
            </a:r>
            <a:endParaRPr lang="en-US" sz="1950" b="0" u="none" strike="noStrike">
              <a:solidFill>
                <a:srgbClr val="000000"/>
              </a:solidFill>
              <a:effectLst/>
              <a:uFillTx/>
              <a:latin typeface="Arial"/>
            </a:endParaRPr>
          </a:p>
        </p:txBody>
      </p:sp>
      <p:sp>
        <p:nvSpPr>
          <p:cNvPr id="290" name="TextBox 15"/>
          <p:cNvSpPr/>
          <p:nvPr/>
        </p:nvSpPr>
        <p:spPr>
          <a:xfrm>
            <a:off x="571680" y="354348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MCP Servers expose distinct capabilities to the agent: </a:t>
            </a:r>
            <a:r>
              <a:rPr lang="en-US" sz="1500" b="0" u="none" strike="noStrike">
                <a:solidFill>
                  <a:srgbClr val="2C241B"/>
                </a:solidFill>
                <a:effectLst/>
                <a:uFillTx/>
                <a:latin typeface="Inter SemiBold"/>
              </a:rPr>
              <a:t>Tools</a:t>
            </a:r>
            <a:r>
              <a:rPr lang="en-US" sz="1500" b="0" u="none" strike="noStrike">
                <a:solidFill>
                  <a:srgbClr val="4A4A4A"/>
                </a:solidFill>
                <a:effectLst/>
                <a:uFillTx/>
                <a:latin typeface="Inter"/>
              </a:rPr>
              <a:t> for executing actionable functions, </a:t>
            </a:r>
            <a:r>
              <a:rPr lang="en-US" sz="1500" b="0" u="none" strike="noStrike">
                <a:solidFill>
                  <a:srgbClr val="2C241B"/>
                </a:solidFill>
                <a:effectLst/>
                <a:uFillTx/>
                <a:latin typeface="Inter SemiBold"/>
              </a:rPr>
              <a:t>Resources</a:t>
            </a:r>
            <a:r>
              <a:rPr lang="en-US" sz="1500" b="0" u="none" strike="noStrike">
                <a:solidFill>
                  <a:srgbClr val="4A4A4A"/>
                </a:solidFill>
                <a:effectLst/>
                <a:uFillTx/>
                <a:latin typeface="Inter"/>
              </a:rPr>
              <a:t> for reading structured internal data, and </a:t>
            </a:r>
            <a:r>
              <a:rPr lang="en-US" sz="1500" b="0" u="none" strike="noStrike">
                <a:solidFill>
                  <a:srgbClr val="2C241B"/>
                </a:solidFill>
                <a:effectLst/>
                <a:uFillTx/>
                <a:latin typeface="Inter SemiBold"/>
              </a:rPr>
              <a:t>Prompts</a:t>
            </a:r>
            <a:r>
              <a:rPr lang="en-US" sz="1500" b="0" u="none" strike="noStrike">
                <a:solidFill>
                  <a:srgbClr val="4A4A4A"/>
                </a:solidFill>
                <a:effectLst/>
                <a:uFillTx/>
                <a:latin typeface="Inter"/>
              </a:rPr>
              <a:t> for reusable interaction templates.</a:t>
            </a:r>
            <a:endParaRPr lang="en-US" sz="1500" b="0" u="none" strike="noStrike">
              <a:solidFill>
                <a:srgbClr val="000000"/>
              </a:solidFill>
              <a:effectLst/>
              <a:uFillTx/>
              <a:latin typeface="Arial"/>
            </a:endParaRPr>
          </a:p>
        </p:txBody>
      </p:sp>
      <p:sp>
        <p:nvSpPr>
          <p:cNvPr id="291" name="TextBox 16"/>
          <p:cNvSpPr/>
          <p:nvPr/>
        </p:nvSpPr>
        <p:spPr>
          <a:xfrm>
            <a:off x="571680" y="4824360"/>
            <a:ext cx="5500440" cy="29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50" b="0" u="none" strike="noStrike">
                <a:solidFill>
                  <a:srgbClr val="8B5A2B"/>
                </a:solidFill>
                <a:effectLst/>
                <a:uFillTx/>
                <a:latin typeface="Inter SemiBold"/>
              </a:rPr>
              <a:t>Connecting to External Systems</a:t>
            </a:r>
            <a:endParaRPr lang="en-US" sz="1950" b="0" u="none" strike="noStrike">
              <a:solidFill>
                <a:srgbClr val="000000"/>
              </a:solidFill>
              <a:effectLst/>
              <a:uFillTx/>
              <a:latin typeface="Arial"/>
            </a:endParaRPr>
          </a:p>
        </p:txBody>
      </p:sp>
      <p:sp>
        <p:nvSpPr>
          <p:cNvPr id="292" name="TextBox 17"/>
          <p:cNvSpPr/>
          <p:nvPr/>
        </p:nvSpPr>
        <p:spPr>
          <a:xfrm>
            <a:off x="571680" y="5200560"/>
            <a:ext cx="5238360" cy="1143000"/>
          </a:xfrm>
          <a:prstGeom prst="rect">
            <a:avLst/>
          </a:prstGeom>
          <a:noFill/>
          <a:ln w="0">
            <a:noFill/>
          </a:ln>
        </p:spPr>
        <p:style>
          <a:lnRef idx="0"/>
          <a:fillRef idx="0"/>
          <a:effectRef idx="0"/>
          <a:fontRef idx="minor"/>
        </p:style>
        <p:txBody>
          <a:bodyPr lIns="0" tIns="0" rIns="0" bIns="0" anchor="t">
            <a:spAutoFit/>
          </a:bodyPr>
          <a:p>
            <a:pPr defTabSz="457200">
              <a:lnSpc>
                <a:spcPts val="2251"/>
              </a:lnSpc>
            </a:pPr>
            <a:r>
              <a:rPr lang="en-US" sz="1500" b="0" u="none" strike="noStrike">
                <a:solidFill>
                  <a:srgbClr val="4A4A4A"/>
                </a:solidFill>
                <a:effectLst/>
                <a:uFillTx/>
                <a:latin typeface="Inter"/>
              </a:rPr>
              <a:t>MCP provides a universal bridge, allowing AI agents to seamlessly interact with local file systems, enterprise databases, and third-party SaaS platforms without requiring custom,  API integrations.</a:t>
            </a:r>
            <a:endParaRPr lang="en-US" sz="1500" b="0" u="none" strike="noStrike">
              <a:solidFill>
                <a:srgbClr val="000000"/>
              </a:solidFill>
              <a:effectLst/>
              <a:uFillTx/>
              <a:latin typeface="Arial"/>
            </a:endParaRPr>
          </a:p>
        </p:txBody>
      </p:sp>
      <p:sp>
        <p:nvSpPr>
          <p:cNvPr id="293" name="TextBox 18"/>
          <p:cNvSpPr/>
          <p:nvPr/>
        </p:nvSpPr>
        <p:spPr>
          <a:xfrm>
            <a:off x="6838920" y="3843360"/>
            <a:ext cx="4323960" cy="161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050" b="0" u="none" strike="noStrike">
                <a:solidFill>
                  <a:srgbClr val="8B5A2B"/>
                </a:solidFill>
                <a:effectLst/>
                <a:uFillTx/>
                <a:latin typeface="Inter SemiBold"/>
              </a:rPr>
              <a:t>MCP SERVER</a:t>
            </a:r>
            <a:endParaRPr lang="en-US" sz="1050" b="0" u="none" strike="noStrike">
              <a:solidFill>
                <a:srgbClr val="000000"/>
              </a:solidFill>
              <a:effectLst/>
              <a:uFillTx/>
              <a:latin typeface="Arial"/>
            </a:endParaRPr>
          </a:p>
        </p:txBody>
      </p:sp>
      <p:sp>
        <p:nvSpPr>
          <p:cNvPr id="294" name="TextBox 19"/>
          <p:cNvSpPr/>
          <p:nvPr/>
        </p:nvSpPr>
        <p:spPr>
          <a:xfrm>
            <a:off x="7577280" y="3214800"/>
            <a:ext cx="284760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 Standardized Protocol ↕</a:t>
            </a:r>
            <a:endParaRPr lang="en-US" sz="1800" b="0" u="none" strike="noStrike">
              <a:solidFill>
                <a:srgbClr val="000000"/>
              </a:solidFill>
              <a:effectLst/>
              <a:uFillTx/>
              <a:latin typeface="Arial"/>
            </a:endParaRPr>
          </a:p>
        </p:txBody>
      </p:sp>
      <p:sp>
        <p:nvSpPr>
          <p:cNvPr id="295" name="TextBox 20"/>
          <p:cNvSpPr/>
          <p:nvPr/>
        </p:nvSpPr>
        <p:spPr>
          <a:xfrm>
            <a:off x="8943840" y="4843440"/>
            <a:ext cx="114120" cy="2757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1800" b="1" u="none" strike="noStrike">
                <a:solidFill>
                  <a:srgbClr val="8B5A2B"/>
                </a:solidFill>
                <a:effectLst/>
                <a:uFillTx/>
                <a:latin typeface="Inter"/>
              </a:rPr>
              <a: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6" name="Rectangle 1"/>
          <p:cNvSpPr/>
          <p:nvPr/>
        </p:nvSpPr>
        <p:spPr>
          <a:xfrm>
            <a:off x="0" y="0"/>
            <a:ext cx="12191760" cy="151920"/>
          </a:xfrm>
          <a:prstGeom prst="rect">
            <a:avLst/>
          </a:prstGeom>
          <a:solidFill>
            <a:srgbClr val="4A3B3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7" name="TextBox 2"/>
          <p:cNvSpPr/>
          <p:nvPr/>
        </p:nvSpPr>
        <p:spPr>
          <a:xfrm>
            <a:off x="4230720" y="2700360"/>
            <a:ext cx="3729960" cy="8283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5400" b="1" u="none" strike="noStrike">
                <a:solidFill>
                  <a:srgbClr val="2C241B"/>
                </a:solidFill>
                <a:effectLst/>
                <a:uFillTx/>
                <a:latin typeface="Inter"/>
              </a:rPr>
              <a:t>Thank You</a:t>
            </a:r>
            <a:endParaRPr lang="en-US" sz="5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45</TotalTime>
  <Application>LibreOffice/26.2.5.2$Linux_X86_64 LibreOffice_project/6d2b0d33fb0f5da53a12f98bed3e9973e56ff1f0</Application>
  <AppVersion>15.0000</AppVersion>
  <Words>1927</Words>
  <Paragraphs>153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2026-09-10T10:00:57Z</dcterms:modified>
  <cp:revision>12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18</vt:i4>
  </property>
</Properties>
</file>